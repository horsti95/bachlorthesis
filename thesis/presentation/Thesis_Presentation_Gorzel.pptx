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handoutMasterIdLst>
    <p:handoutMasterId r:id="rId17"/>
  </p:handoutMasterIdLst>
  <p:sldIdLst>
    <p:sldId id="4316" r:id="rId5"/>
    <p:sldId id="4435" r:id="rId6"/>
    <p:sldId id="4436" r:id="rId7"/>
    <p:sldId id="4437" r:id="rId8"/>
    <p:sldId id="4439" r:id="rId9"/>
    <p:sldId id="4447" r:id="rId10"/>
    <p:sldId id="4441" r:id="rId11"/>
    <p:sldId id="4448" r:id="rId12"/>
    <p:sldId id="4442" r:id="rId13"/>
    <p:sldId id="4446" r:id="rId14"/>
    <p:sldId id="4443" r:id="rId15"/>
    <p:sldId id="4449" r:id="rId22"/>
    <p:sldId id="4450" r:id="rId23"/>
    <p:sldId id="4451" r:id="rId24"/>
    <p:sldId id="4452"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yout-Beispiele" id="{B1B80792-C706-4248-93F1-D506A758C0A1}">
          <p14:sldIdLst>
            <p14:sldId id="4316"/>
            <p14:sldId id="4435"/>
            <p14:sldId id="4436"/>
            <p14:sldId id="4437"/>
            <p14:sldId id="4439"/>
            <p14:sldId id="4447"/>
            <p14:sldId id="4441"/>
            <p14:sldId id="4448"/>
            <p14:sldId id="4442"/>
            <p14:sldId id="4446"/>
            <p14:sldId id="444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55327" autoAdjust="0"/>
  </p:normalViewPr>
  <p:slideViewPr>
    <p:cSldViewPr showGuides="1">
      <p:cViewPr varScale="1">
        <p:scale>
          <a:sx n="83" d="100"/>
          <a:sy n="83" d="100"/>
        </p:scale>
        <p:origin x="150" y="1920"/>
      </p:cViewPr>
      <p:guideLst/>
    </p:cSldViewPr>
  </p:slideViewPr>
  <p:notesTextViewPr>
    <p:cViewPr>
      <p:scale>
        <a:sx n="1" d="1"/>
        <a:sy n="1" d="1"/>
      </p:scale>
      <p:origin x="0" y="0"/>
    </p:cViewPr>
  </p:notesTextViewPr>
  <p:sorterViewPr>
    <p:cViewPr>
      <p:scale>
        <a:sx n="66" d="100"/>
        <a:sy n="66" d="100"/>
      </p:scale>
      <p:origin x="0" y="0"/>
    </p:cViewPr>
  </p:sorterViewPr>
  <p:notesViewPr>
    <p:cSldViewPr showGuides="1">
      <p:cViewPr>
        <p:scale>
          <a:sx n="66" d="100"/>
          <a:sy n="66" d="100"/>
        </p:scale>
        <p:origin x="3354" y="44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pPr lvl="0"/>
            <a:endParaRPr lang="de-DE"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2965094123"/>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Six sections, ten minutes. The contribution is the caching framework; sleep staging is just the test vehicle.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began as a sleep-staging project. LOSO is not just one option — in clinical and medical ML it is the preferred protocol because it enforces true subject independence. With 128 subjects and 18 model configurations you're at ~21 hours per sweep, mostly recomputing byte-for-byte identical models. Changing one parameter throws all of it away. Sleep EEG is just the vehicle; the contribution is the caching framework. These four research questions guide the rest of the talk — I'll answer each one explicitly in the conclusion. (~2:00)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ingredient already exists — tracking, caching, fingerprinting, cross-validation. What no tool does is the bottom row: combine them AND put the held-out subject into the cache key. Without that, a cache hit can silently hand you a model trained on the wrong people — no error, just an invalid result. That's the gap I close.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mechanism is one idea: give every computation an identity. I take the full configuration — seed, code version, hyperparameters, feature set — serialize it to canonical JSON, and hash it with SHA-256. Same inputs always give the same key; change one thing and the key changes, forcing a recompute. The decisive part, and the reason generic tools cannot do this, is adding the held-out subject ID into the hash. That makes fold isolation structural, not a convention: a model trained with subject A out cannot be retrieved when subject B is the test subject. Any caching library can store a file by key — what makes this fingerprint-based is that the key is derived from ALL inputs including the held-out subject ID. Without that, a cache hit could silently return a model trained on the wrong 127 people with no error raised. (~1:30)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pipeline — and this diagram is the method on one slide. Two cache layers. Layer 1 holds the extracted features; they depend only on the raw signal, so they're computed once and stay valid. Layer 2 is the fingerprint-keyed model cache — that's where the speedup lives. The inner loop runs 128 times per configuration: fingerprint, check cache, train only on a miss. The outer loop sweeps all 18 configurations, and configurations that share folds reuse each other's cached models automatically. I verified it with deliberate invalidation tests — change a hyperparameter, a feature count, a subject — each produces a distinct fingerprint and the correct miss. Zero collisions. (~1:30)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for XGBoost, a median 54x speedup, and the best configuration went from a 64-minute cold run to 19 seconds — 202x. Feature extraction alone is 227x faster. Two numbers I want to state explicitly, because they're the scientific claims, not just speed: every one of the 2,304 warm operations was a hit — a 100% hit rate — and every cached model produced bitwise-identical predictions to retraining. And the cached models still reach 85.5% accuracy, kappa 0.74 — so this is faster AND provably the same result, at no cost to quality. (~1:30)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Caching isn't free for every model, so I built a metric — eta, the same symbol physics uses for efficiency — seconds of compute saved per megabyte stored. I tested 15 models. Everything above this diagonal recovers more compute than it spends on storage I/O: 11 pass, 4 fail. The failures cluster bottom-right — Random Forest, Extra Trees, kNN — big files, little saved. The threshold wasn't picked arbitrarily: after measuring all 15 models, the viable cluster landed between 4 and 2,500 s/MB; the not-viable cluster between 0.19 and 0.4 s/MB — a near-decade gap on a log scale. The threshold just needs to sit inside that gap; the exact value doesn't change any verdict. And the scaling result is the general takeaway: SVM went from 9x at ten subjects to 201x at 128. Caching gets MORE valuable as the study grows, not less. (~1:20)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fingerprint makes fold-safe caching structural, the speedups are order-of-magnitude, and reproducibility is guaranteed by construction — that answers all four research questions: efficiency, reproducibility, scalability, and the storage trade-off. There's also a second win beyond speed: because I persist every fold's model, not just the metrics, a clinician can flag an outlier subject and an ML specialist can pull that subject's exact model and inspect its feature importances — for free. Model evaluation meeting domain knowledge. The honest caveat: the specific numbers depend on hardware and model choice — but the method, the fingerprint and the eta metric, transfers to any subject-level cross-validation domain. (~1:20)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I'm happy to take questions. Advance to backup slides as needed (full results table, eta ranking, confusion matrix, global-vs-fold leakage).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index. Pull the relevant slide up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Per-configuration cache results, 128-fold LOSO. XGBoost: median 54×, ~185 MB, best config corr=None/k=None at 202×. Random Forest: median 11.6×, ~18.5 GB — meaningful speedup but GB-scale storage. All 2,304 warm operations were cache hits.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 ranking of all 15 model types. Eleven viable, four not (Random Forest, Extra Trees, kNN k=5/k=10). Caveat if asked: the tiny-cache models (gradient boosting, AdaBoost, SVM-linear) show very large η because their cache size rounds toward zero — read this alongside the two-axis scatter on the main Results slide, which also shows absolute time saved.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Aggregated confusion matrix, best XGBoost configuration, all 128 folds. N1 has the lowest recall — it is a transitional stage, only 3.7% of all epochs, and is most often confused with Wake and N2. This is the standard hard class in AASM sleep staging, not a caching artefact.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vs per-fold feature selection. Per-fold is statistically stricter — it removes the 0.8% label leakage — but it re-runs ANOVA on every warm load, collapsing XGBoost speedup from 14–23× to 4–9×. Global was chosen with the supervisor's approval; the empirical accuracy impact is ≤1.1% with no consistent direction. This slide directly addresses the train-set leakage point in the assessment.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1229188569"/>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3356405246"/>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solidFill>
            <a:srgbClr val="E4E7E9"/>
          </a:solidFill>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310651" y="3141000"/>
            <a:ext cx="5184675" cy="1440000"/>
          </a:xfrm>
        </p:spPr>
        <p:txBody>
          <a:bodyPr anchor="b"/>
          <a:lstStyle>
            <a:lvl1pPr algn="l">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310651" y="4797000"/>
            <a:ext cx="5184675"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311325" y="5876999"/>
            <a:ext cx="5184675"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pic>
        <p:nvPicPr>
          <p:cNvPr id="7" name="Logo">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de-DE" dirty="0"/>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de-DE" dirty="0"/>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de-DE" dirty="0"/>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1313537673"/>
      </p:ext>
    </p:extLst>
  </p:cSld>
  <p:clrMapOvr>
    <a:masterClrMapping/>
  </p:clrMapOvr>
  <p:extLst>
    <p:ext uri="{DCECCB84-F9BA-43D5-87BE-67443E8EF086}">
      <p15:sldGuideLst xmlns:p15="http://schemas.microsoft.com/office/powerpoint/2012/main">
        <p15:guide id="1" orient="horz" pos="1706" userDrawn="1">
          <p15:clr>
            <a:srgbClr val="FBAE40"/>
          </p15:clr>
        </p15:guide>
        <p15:guide id="2" pos="5473" userDrawn="1">
          <p15:clr>
            <a:srgbClr val="FBAE40"/>
          </p15:clr>
        </p15:guide>
        <p15:guide id="3" pos="2207" userDrawn="1">
          <p15:clr>
            <a:srgbClr val="FBAE40"/>
          </p15:clr>
        </p15:guide>
        <p15:guide id="4" orient="horz" pos="2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693000"/>
            <a:ext cx="8928100" cy="792000"/>
          </a:xfrm>
        </p:spPr>
        <p:txBody>
          <a:bodyPr/>
          <a:lstStyle/>
          <a:p>
            <a:r>
              <a:rPr lang="de-DE" dirty="0"/>
              <a:t>Folientitel</a:t>
            </a:r>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5" y="1844675"/>
            <a:ext cx="8928100" cy="4319589"/>
          </a:xfrm>
        </p:spPr>
        <p:txBody>
          <a:body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fld id="{2A09CE31-9316-4BF9-8DA9-E4F37514F421}" type="datetime1">
              <a:rPr lang="en-US" smtClean="0"/>
              <a:t>6/9/2026</a:t>
            </a:fld>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dirty="0"/>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fld id="{4B5AD537-44AC-42F9-A3D1-33298B4A8467}" type="datetime1">
              <a:rPr lang="en-US" smtClean="0"/>
              <a:t>6/9/2026</a:t>
            </a:fld>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dirty="0"/>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fld id="{7E1AF4C6-FF53-42BF-9D14-8D8139C3C86E}" type="datetime1">
              <a:rPr lang="en-US" smtClean="0"/>
              <a:t>6/9/2026</a:t>
            </a:fld>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de-DE" dirty="0"/>
              <a:t>Folientitel</a:t>
            </a:r>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fld id="{CB57924C-E693-48F9-A1FF-5DCD36A9E2E7}" type="datetime1">
              <a:rPr lang="en-US" smtClean="0"/>
              <a:t>6/9/2026</a:t>
            </a:fld>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644845398"/>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7242" userDrawn="1">
          <p15:clr>
            <a:srgbClr val="FBAE40"/>
          </p15:clr>
        </p15:guide>
        <p15:guide id="3" pos="438" userDrawn="1">
          <p15:clr>
            <a:srgbClr val="FBAE40"/>
          </p15:clr>
        </p15:guide>
        <p15:guide id="4" orient="horz" pos="388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fld id="{6688E2AB-8D52-41B0-B21E-E03CD4B9ADA6}" type="datetime1">
              <a:rPr lang="en-US" smtClean="0"/>
              <a:t>6/9/2026</a:t>
            </a:fld>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Tree>
    <p:extLst>
      <p:ext uri="{BB962C8B-B14F-4D97-AF65-F5344CB8AC3E}">
        <p14:creationId xmlns:p14="http://schemas.microsoft.com/office/powerpoint/2010/main" val="3626698971"/>
      </p:ext>
    </p:extLst>
  </p:cSld>
  <p:clrMapOvr>
    <a:masterClrMapping/>
  </p:clrMapOvr>
  <p:extLst>
    <p:ext uri="{DCECCB84-F9BA-43D5-87BE-67443E8EF086}">
      <p15:sldGuideLst xmlns:p15="http://schemas.microsoft.com/office/powerpoint/2012/main">
        <p15:guide id="1" orient="horz" pos="437" userDrawn="1">
          <p15:clr>
            <a:srgbClr val="FBAE40"/>
          </p15:clr>
        </p15:guide>
        <p15:guide id="2" pos="438" userDrawn="1">
          <p15:clr>
            <a:srgbClr val="FBAE40"/>
          </p15:clr>
        </p15:guide>
        <p15:guide id="3" pos="7242" userDrawn="1">
          <p15:clr>
            <a:srgbClr val="FBAE40"/>
          </p15:clr>
        </p15:guide>
        <p15:guide id="4" orient="horz" pos="38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b" anchorCtr="0"/>
          <a:lstStyle>
            <a:lvl1pPr>
              <a:lnSpc>
                <a:spcPct val="100000"/>
              </a:lnSpc>
              <a:defRPr sz="3600"/>
            </a:lvl1pPr>
          </a:lstStyle>
          <a:p>
            <a:r>
              <a:rPr lang="de-DE" dirty="0"/>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fld id="{F677530F-3644-47D1-8CD5-CB42886FA70D}" type="datetime1">
              <a:rPr lang="en-US" smtClean="0"/>
              <a:t>6/9/2026</a:t>
            </a:fld>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p>
            <a:r>
              <a:rPr lang="en-US"/>
              <a:t>Firstname Lastname:  Thesis Title </a:t>
            </a:r>
            <a:endParaRPr lang="de-DE" dirty="0"/>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de-DE" dirty="0"/>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fld id="{1E7FE58B-31BB-47FA-A637-27DAA422B0E3}" type="datetime1">
              <a:rPr lang="en-US" smtClean="0"/>
              <a:t>6/9/2026</a:t>
            </a:fld>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p>
            <a:r>
              <a:rPr lang="en-US"/>
              <a:t>Firstname Lastname:  Thesis Title </a:t>
            </a:r>
            <a:endParaRPr lang="de-DE" dirty="0"/>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328228728"/>
      </p:ext>
    </p:extLst>
  </p:cSld>
  <p:clrMapOvr>
    <a:masterClrMapping/>
  </p:clrMapOvr>
  <p:extLst>
    <p:ext uri="{DCECCB84-F9BA-43D5-87BE-67443E8EF086}">
      <p15:sldGuideLst xmlns:p15="http://schemas.microsoft.com/office/powerpoint/2012/main">
        <p15:guide id="1" orient="horz" pos="1162" userDrawn="1">
          <p15:clr>
            <a:srgbClr val="FBAE40"/>
          </p15:clr>
        </p15:guide>
        <p15:guide id="3" pos="438" userDrawn="1">
          <p15:clr>
            <a:srgbClr val="FBAE40"/>
          </p15:clr>
        </p15:guide>
        <p15:guide id="4" pos="2797" userDrawn="1">
          <p15:clr>
            <a:srgbClr val="FBAE40"/>
          </p15:clr>
        </p15:guide>
        <p15:guide id="5" orient="horz" pos="388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008ADB23-EB43-4898-8146-A1453F3EB80D}" type="datetime1">
              <a:rPr lang="en-US" smtClean="0"/>
              <a:t>6/9/2026</a:t>
            </a:fld>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78166529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0CCA5422-D3CA-4564-A8D6-0C2439E1A5FA}" type="datetime1">
              <a:rPr lang="en-US" smtClean="0"/>
              <a:t>6/9/2026</a:t>
            </a:fld>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2215380905"/>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fld id="{A48ED24F-DA1D-4CCE-A49D-F1DD3DA2E2A4}" type="datetime1">
              <a:rPr lang="en-US" smtClean="0"/>
              <a:t>6/9/2026</a:t>
            </a:fld>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968468996"/>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fld id="{E2B63C55-F913-43AE-9C54-B855A10A4601}" type="datetime1">
              <a:rPr lang="en-US" smtClean="0"/>
              <a:t>6/9/2026</a:t>
            </a:fld>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9820009"/>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fld id="{8F8EB5A4-2163-4F60-896D-74CA77B72814}" type="datetime1">
              <a:rPr lang="en-US" smtClean="0"/>
              <a:t>6/9/2026</a:t>
            </a:fld>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6376688"/>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E4D38EFF-B953-413A-8A15-5C46FFC3DF38}" type="datetime1">
              <a:rPr lang="en-US" smtClean="0"/>
              <a:t>6/9/2026</a:t>
            </a:fld>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1880015319"/>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fld id="{51360767-738B-4291-B2D1-C9C2E7B112F5}" type="datetime1">
              <a:rPr lang="en-US" smtClean="0"/>
              <a:t>6/9/2026</a:t>
            </a:fld>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459233984"/>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fld id="{C17320CD-8908-4B11-83DE-5248A38F98DF}" type="datetime1">
              <a:rPr lang="en-US" smtClean="0"/>
              <a:t>6/9/2026</a:t>
            </a:fld>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548565317"/>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fld id="{25FAE9B1-9FA9-4A15-B9E4-3CDC42F89F87}" type="datetime1">
              <a:rPr lang="en-US" smtClean="0"/>
              <a:t>6/9/2026</a:t>
            </a:fld>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90935453"/>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fld id="{E5D5AB79-1E5E-46C4-93F2-2786D100D754}" type="datetime1">
              <a:rPr lang="en-US" smtClean="0"/>
              <a:t>6/9/2026</a:t>
            </a:fld>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‹Nr.›</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de-DE" dirty="0"/>
              <a:t>Hier könnte ein Zitat stehen</a:t>
            </a:r>
            <a:br>
              <a:rPr lang="de-DE" dirty="0"/>
            </a:br>
            <a:r>
              <a:rPr lang="de-DE" dirty="0"/>
              <a:t>(Listenebene 1).</a:t>
            </a:r>
          </a:p>
          <a:p>
            <a:pPr lvl="1"/>
            <a:r>
              <a:rPr lang="de-DE" dirty="0"/>
              <a:t>Eine optionale Autorenzeile ist in der Listenebene 2 vordefiniert.</a:t>
            </a:r>
          </a:p>
        </p:txBody>
      </p:sp>
    </p:spTree>
    <p:extLst>
      <p:ext uri="{BB962C8B-B14F-4D97-AF65-F5344CB8AC3E}">
        <p14:creationId xmlns:p14="http://schemas.microsoft.com/office/powerpoint/2010/main" val="2984370510"/>
      </p:ext>
    </p:extLst>
  </p:cSld>
  <p:clrMapOvr>
    <a:masterClrMapping/>
  </p:clrMapOvr>
  <p:extLst>
    <p:ext uri="{DCECCB84-F9BA-43D5-87BE-67443E8EF086}">
      <p15:sldGuideLst xmlns:p15="http://schemas.microsoft.com/office/powerpoint/2012/main">
        <p15:guide id="1" orient="horz" pos="1344" userDrawn="1">
          <p15:clr>
            <a:srgbClr val="FBAE40"/>
          </p15:clr>
        </p15:guide>
        <p15:guide id="2" pos="1028" userDrawn="1">
          <p15:clr>
            <a:srgbClr val="FBAE40"/>
          </p15:clr>
        </p15:guide>
        <p15:guide id="3" pos="5473" userDrawn="1">
          <p15:clr>
            <a:srgbClr val="FBAE40"/>
          </p15:clr>
        </p15:guide>
        <p15:guide id="4" orient="horz" pos="3883"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de-DE" dirty="0"/>
              <a:t>Kontakt</a:t>
            </a:r>
          </a:p>
          <a:p>
            <a:pPr lvl="1"/>
            <a:r>
              <a:rPr lang="de-DE" dirty="0"/>
              <a:t>Position</a:t>
            </a:r>
          </a:p>
          <a:p>
            <a:pPr lvl="2"/>
            <a:r>
              <a:rPr lang="de-DE" dirty="0"/>
              <a:t>Kontaktdaten</a:t>
            </a:r>
          </a:p>
        </p:txBody>
      </p:sp>
    </p:spTree>
    <p:extLst>
      <p:ext uri="{BB962C8B-B14F-4D97-AF65-F5344CB8AC3E}">
        <p14:creationId xmlns:p14="http://schemas.microsoft.com/office/powerpoint/2010/main" val="101969160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693DCD73-9D17-4118-83F0-5F001E132114}" type="datetime1">
              <a:rPr lang="en-US" smtClean="0"/>
              <a:t>6/9/2026</a:t>
            </a:fld>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057005"/>
            <a:ext cx="5400000" cy="1107996"/>
          </a:xfr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lvl="0"/>
            <a:r>
              <a:rPr lang="de-DE" dirty="0"/>
              <a:t>Hier könnte kurze Aussage stehen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3913895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de-DE" smtClean="0"/>
              <a:pPr/>
              <a:t>‹Nr.›</a:t>
            </a:fld>
            <a:endParaRPr lang="de-DE"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693000"/>
            <a:ext cx="9360675" cy="792000"/>
          </a:xfrm>
          <a:prstGeom prst="rect">
            <a:avLst/>
          </a:prstGeom>
        </p:spPr>
        <p:txBody>
          <a:bodyPr vert="horz" lIns="0" tIns="0" rIns="0" bIns="0" rtlCol="0" anchor="t" anchorCtr="0">
            <a:noAutofit/>
          </a:bodyPr>
          <a:lstStyle/>
          <a:p>
            <a:r>
              <a:rPr lang="de-DE" dirty="0"/>
              <a:t>Titelmasterformat durch Klicken bearbeiten</a:t>
            </a:r>
          </a:p>
        </p:txBody>
      </p:sp>
      <p:sp>
        <p:nvSpPr>
          <p:cNvPr id="3" name="Textplatzhalter">
            <a:extLst>
              <a:ext uri="{FF2B5EF4-FFF2-40B4-BE49-F238E27FC236}">
                <a16:creationId xmlns:a16="http://schemas.microsoft.com/office/drawing/2014/main" id="{EF175F3C-62B0-3BD8-C2DE-1A89AD85A9F7}"/>
              </a:ext>
            </a:extLst>
          </p:cNvPr>
          <p:cNvSpPr>
            <a:spLocks noGrp="1"/>
          </p:cNvSpPr>
          <p:nvPr>
            <p:ph type="body" idx="1"/>
          </p:nvPr>
        </p:nvSpPr>
        <p:spPr bwMode="gray">
          <a:xfrm>
            <a:off x="695325" y="1845000"/>
            <a:ext cx="10801350" cy="4319264"/>
          </a:xfrm>
          <a:prstGeom prst="rect">
            <a:avLst/>
          </a:prstGeom>
        </p:spPr>
        <p:txBody>
          <a:bodyPr vert="horz" lIns="0" tIns="0" rIns="0" bIns="0" rtlCol="0">
            <a:noAutofit/>
          </a:body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696000" y="6439500"/>
            <a:ext cx="792000" cy="144000"/>
          </a:xfrm>
          <a:prstGeom prst="rect">
            <a:avLst/>
          </a:prstGeom>
        </p:spPr>
        <p:txBody>
          <a:bodyPr vert="horz" lIns="0" tIns="0" rIns="0" bIns="0" rtlCol="0" anchor="ctr"/>
          <a:lstStyle>
            <a:lvl1pPr algn="l">
              <a:defRPr sz="800">
                <a:solidFill>
                  <a:schemeClr val="tx1"/>
                </a:solidFill>
              </a:defRPr>
            </a:lvl1pPr>
          </a:lstStyle>
          <a:p>
            <a:fld id="{B91A688C-07E3-40B6-AA7A-CB292645DD3B}" type="datetime1">
              <a:rPr lang="en-US" smtClean="0"/>
              <a:t>6/9/2026</a:t>
            </a:fld>
            <a:endParaRPr lang="de-DE"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1560000" y="6439500"/>
            <a:ext cx="9360000" cy="144000"/>
          </a:xfrm>
          <a:prstGeom prst="rect">
            <a:avLst/>
          </a:prstGeom>
        </p:spPr>
        <p:txBody>
          <a:bodyPr vert="horz" lIns="0" tIns="0" rIns="0" bIns="0" rtlCol="0" anchor="ctr"/>
          <a:lstStyle>
            <a:lvl1pPr algn="l">
              <a:defRPr sz="800">
                <a:solidFill>
                  <a:schemeClr val="tx1"/>
                </a:solidFill>
              </a:defRPr>
            </a:lvl1pPr>
          </a:lstStyle>
          <a:p>
            <a:r>
              <a:rPr lang="en-US"/>
              <a:t>Firstname Lastname:  Thesis Title </a:t>
            </a:r>
            <a:endParaRPr lang="de-DE" dirty="0"/>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bwMode="gray">
          <a:xfrm>
            <a:off x="10992001" y="483651"/>
            <a:ext cx="504000" cy="516956"/>
          </a:xfrm>
          <a:prstGeom prst="rect">
            <a:avLst/>
          </a:prstGeom>
        </p:spPr>
      </p:pic>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1" r:id="rId5"/>
    <p:sldLayoutId id="2147483650" r:id="rId6"/>
    <p:sldLayoutId id="2147483686" r:id="rId7"/>
    <p:sldLayoutId id="2147483652" r:id="rId8"/>
    <p:sldLayoutId id="2147483654" r:id="rId9"/>
    <p:sldLayoutId id="2147483655" r:id="rId10"/>
    <p:sldLayoutId id="2147483687" r:id="rId11"/>
    <p:sldLayoutId id="2147483688" r:id="rId12"/>
    <p:sldLayoutId id="2147483690" r:id="rId13"/>
    <p:sldLayoutId id="2147483692" r:id="rId14"/>
    <p:sldLayoutId id="2147483689" r:id="rId15"/>
    <p:sldLayoutId id="2147483691"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hf hdr="0"/>
  <p:txStyles>
    <p:titleStyle>
      <a:lvl1pPr algn="l" defTabSz="914400" rtl="0" eaLnBrk="1" latinLnBrk="0" hangingPunct="1">
        <a:lnSpc>
          <a:spcPct val="90000"/>
        </a:lnSpc>
        <a:spcBef>
          <a:spcPct val="0"/>
        </a:spcBef>
        <a:buNone/>
        <a:defRPr sz="2800" b="1"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300"/>
        </a:spcAft>
        <a:buFontTx/>
        <a:buNone/>
        <a:defRPr sz="1600" kern="1200">
          <a:solidFill>
            <a:schemeClr val="tx1"/>
          </a:solidFill>
          <a:latin typeface="+mn-lt"/>
          <a:ea typeface="+mn-ea"/>
          <a:cs typeface="+mn-cs"/>
        </a:defRPr>
      </a:lvl1pPr>
      <a:lvl2pPr marL="0" indent="0" algn="l" defTabSz="914400" rtl="0" eaLnBrk="1" latinLnBrk="0" hangingPunct="1">
        <a:lnSpc>
          <a:spcPct val="120000"/>
        </a:lnSpc>
        <a:spcBef>
          <a:spcPts val="1400"/>
        </a:spcBef>
        <a:buFontTx/>
        <a:buNone/>
        <a:defRPr sz="1800" b="1" kern="1200">
          <a:solidFill>
            <a:schemeClr val="bg2"/>
          </a:solidFill>
          <a:latin typeface="+mj-lt"/>
          <a:ea typeface="+mn-ea"/>
          <a:cs typeface="+mn-cs"/>
        </a:defRPr>
      </a:lvl2pPr>
      <a:lvl3pPr marL="180000" indent="-180000" algn="l" defTabSz="914400" rtl="0" eaLnBrk="1" latinLnBrk="0" hangingPunct="1">
        <a:lnSpc>
          <a:spcPct val="120000"/>
        </a:lnSpc>
        <a:spcBef>
          <a:spcPts val="800"/>
        </a:spcBef>
        <a:buFont typeface="Arial" panose="020B0604020202020204" pitchFamily="34" charset="0"/>
        <a:buChar char="•"/>
        <a:defRPr sz="1600" kern="1200">
          <a:solidFill>
            <a:schemeClr val="tx1"/>
          </a:solidFill>
          <a:latin typeface="+mn-lt"/>
          <a:ea typeface="+mn-ea"/>
          <a:cs typeface="+mn-cs"/>
        </a:defRPr>
      </a:lvl3pPr>
      <a:lvl4pPr marL="360000" indent="-180000" algn="l" defTabSz="914400" rtl="0" eaLnBrk="1" latinLnBrk="0" hangingPunct="1">
        <a:lnSpc>
          <a:spcPct val="120000"/>
        </a:lnSpc>
        <a:spcBef>
          <a:spcPts val="800"/>
        </a:spcBef>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300"/>
        </a:spcAft>
        <a:buFontTx/>
        <a:buNone/>
        <a:defRPr sz="1200" kern="1200">
          <a:solidFill>
            <a:schemeClr val="tx1"/>
          </a:solidFill>
          <a:latin typeface="+mn-lt"/>
          <a:ea typeface="+mn-ea"/>
          <a:cs typeface="+mn-cs"/>
        </a:defRPr>
      </a:lvl5pPr>
      <a:lvl6pPr marL="0" indent="0" algn="l" defTabSz="914400" rtl="0" eaLnBrk="1" latinLnBrk="0" hangingPunct="1">
        <a:lnSpc>
          <a:spcPct val="120000"/>
        </a:lnSpc>
        <a:spcBef>
          <a:spcPts val="1200"/>
        </a:spcBef>
        <a:buFontTx/>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B55CDD0F-871C-3A57-9F8B-7C5F4283134E}"/>
              </a:ext>
            </a:extLst>
          </p:cNvPr>
          <p:cNvSpPr>
            <a:spLocks noGrp="1"/>
          </p:cNvSpPr>
          <p:nvPr>
            <p:ph type="body" sz="quarter" idx="14"/>
          </p:nvPr>
        </p:nvSpPr>
        <p:spPr>
          <a:xfrm>
            <a:off x="1955540" y="2276872"/>
            <a:ext cx="8280920" cy="3816424"/>
          </a:xfrm>
        </p:spPr>
        <p:txBody>
          <a:bodyPr/>
          <a:lstStyle/>
          <a:p>
            <a:pPr algn="ctr"/>
            <a:r>
              <a:rPr lang="en-US" dirty="0"/>
              <a:t>Fingerprint-Based Caching for </a:t>
            </a:r>
            <a:br>
              <a:rPr lang="en-US" dirty="0"/>
            </a:br>
            <a:r>
              <a:rPr lang="en-US" dirty="0"/>
              <a:t>Leave-One-Subject-Out Cross-Validation</a:t>
            </a:r>
            <a:br>
              <a:rPr lang="de-DE" dirty="0"/>
            </a:br>
            <a:r>
              <a:rPr lang="de-DE" sz="2400" dirty="0"/>
              <a:t>(</a:t>
            </a:r>
            <a:r>
              <a:rPr lang="en-US" sz="2400" dirty="0"/>
              <a:t>Eliminating Redundant Computation </a:t>
            </a:r>
            <a:br>
              <a:rPr lang="en-US" sz="2400" dirty="0"/>
            </a:br>
            <a:r>
              <a:rPr lang="en-US" sz="2400" dirty="0"/>
              <a:t>in Iterative ML Experimentation </a:t>
            </a:r>
            <a:br>
              <a:rPr lang="en-US" sz="2400" dirty="0"/>
            </a:br>
            <a:r>
              <a:rPr lang="en-US" sz="2400" dirty="0"/>
              <a:t>on EEG Sleep Staging</a:t>
            </a:r>
            <a:r>
              <a:rPr lang="de-DE" sz="2400" dirty="0"/>
              <a:t>)</a:t>
            </a:r>
          </a:p>
          <a:p>
            <a:pPr algn="ctr"/>
            <a:endParaRPr lang="de-DE" dirty="0"/>
          </a:p>
          <a:p>
            <a:pPr algn="ctr"/>
            <a:endParaRPr lang="de-DE" dirty="0"/>
          </a:p>
          <a:p>
            <a:pPr algn="ctr"/>
            <a:r>
              <a:rPr lang="de-DE" sz="1800" b="0" dirty="0"/>
              <a:t>Lennart Gorzel</a:t>
            </a:r>
            <a:br>
              <a:rPr lang="de-DE" sz="1800" b="0" dirty="0"/>
            </a:br>
            <a:r>
              <a:rPr lang="de-DE" sz="1800" b="0" dirty="0"/>
              <a:t>52418474</a:t>
            </a:r>
          </a:p>
          <a:p>
            <a:pPr algn="ctr"/>
            <a:r>
              <a:rPr lang="de-DE" sz="1800" b="0" dirty="0"/>
              <a:t>Bachelor Thesis</a:t>
            </a:r>
          </a:p>
        </p:txBody>
      </p:sp>
    </p:spTree>
    <p:extLst>
      <p:ext uri="{BB962C8B-B14F-4D97-AF65-F5344CB8AC3E}">
        <p14:creationId xmlns:p14="http://schemas.microsoft.com/office/powerpoint/2010/main" val="1064660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D1A5-F176-C352-0DF6-58CCBE7710EC}"/>
              </a:ext>
            </a:extLst>
          </p:cNvPr>
          <p:cNvSpPr>
            <a:spLocks noGrp="1"/>
          </p:cNvSpPr>
          <p:nvPr>
            <p:ph type="title"/>
          </p:nvPr>
        </p:nvSpPr>
        <p:spPr/>
        <p:txBody>
          <a:bodyPr/>
          <a:lstStyle/>
          <a:p>
            <a:r>
              <a:rPr lang="de-DE" dirty="0"/>
              <a:t>Outline</a:t>
            </a:r>
            <a:endParaRPr lang="en-US" dirty="0"/>
          </a:p>
        </p:txBody>
      </p:sp>
      <p:sp>
        <p:nvSpPr>
          <p:cNvPr id="3" name="Content Placeholder 2">
            <a:extLst>
              <a:ext uri="{FF2B5EF4-FFF2-40B4-BE49-F238E27FC236}">
                <a16:creationId xmlns:a16="http://schemas.microsoft.com/office/drawing/2014/main" id="{152BDC7F-75C3-1D19-016D-BF85EFEBEDA8}"/>
              </a:ext>
            </a:extLst>
          </p:cNvPr>
          <p:cNvSpPr>
            <a:spLocks noGrp="1"/>
          </p:cNvSpPr>
          <p:nvPr>
            <p:ph idx="1"/>
          </p:nvPr>
        </p:nvSpPr>
        <p:spPr/>
        <p:txBody>
          <a:bodyPr wrap="square"/>
          <a:lstStyle/>
          <a:p>
            <a:pPr marL="285750" indent="-285750">
              <a:spcBef>
                <a:spcPts val="800"/>
              </a:spcBef>
              <a:spcAft>
                <a:spcPts val="400"/>
              </a:spcAft>
              <a:buFont typeface="Arial" panose="020B0604020202020204" pitchFamily="34" charset="0"/>
              <a:buChar char="•"/>
            </a:pPr>
            <a:r>
              <a:rPr sz="2400" b="0"/>
              <a:t>Motivation &amp; Research Questions</a:t>
            </a:r>
          </a:p>
          <a:p>
            <a:pPr>
              <a:spcBef>
                <a:spcPts val="800"/>
              </a:spcBef>
              <a:spcAft>
                <a:spcPts val="400"/>
              </a:spcAft>
            </a:pPr>
            <a:r>
              <a:rPr sz="2400" b="0"/>
              <a:t>State of the Art</a:t>
            </a:r>
          </a:p>
          <a:p>
            <a:pPr>
              <a:spcBef>
                <a:spcPts val="800"/>
              </a:spcBef>
              <a:spcAft>
                <a:spcPts val="400"/>
              </a:spcAft>
            </a:pPr>
            <a:r>
              <a:rPr sz="2400" b="0"/>
              <a:t>Model — The Fingerprint</a:t>
            </a:r>
          </a:p>
          <a:p>
            <a:pPr>
              <a:spcBef>
                <a:spcPts val="800"/>
              </a:spcBef>
              <a:spcAft>
                <a:spcPts val="400"/>
              </a:spcAft>
            </a:pPr>
            <a:r>
              <a:rPr sz="2400" b="0"/>
              <a:t>Implementation</a:t>
            </a:r>
          </a:p>
          <a:p>
            <a:pPr>
              <a:spcBef>
                <a:spcPts val="800"/>
              </a:spcBef>
              <a:spcAft>
                <a:spcPts val="400"/>
              </a:spcAft>
            </a:pPr>
            <a:r>
              <a:rPr sz="2400" b="0"/>
              <a:t>Results</a:t>
            </a:r>
          </a:p>
          <a:p>
            <a:pPr>
              <a:spcBef>
                <a:spcPts val="800"/>
              </a:spcBef>
              <a:spcAft>
                <a:spcPts val="400"/>
              </a:spcAft>
            </a:pPr>
            <a:r>
              <a:rPr sz="2400" b="0"/>
              <a:t>Conclusion</a:t>
            </a:r>
          </a:p>
        </p:txBody>
      </p:sp>
      <p:sp>
        <p:nvSpPr>
          <p:cNvPr id="5" name="Slide Number Placeholder 4">
            <a:extLst>
              <a:ext uri="{FF2B5EF4-FFF2-40B4-BE49-F238E27FC236}">
                <a16:creationId xmlns:a16="http://schemas.microsoft.com/office/drawing/2014/main" id="{4C616D31-19AB-D7B0-098E-3638F0ACC187}"/>
              </a:ext>
            </a:extLst>
          </p:cNvPr>
          <p:cNvSpPr>
            <a:spLocks noGrp="1"/>
          </p:cNvSpPr>
          <p:nvPr>
            <p:ph type="sldNum" sz="quarter" idx="12"/>
          </p:nvPr>
        </p:nvSpPr>
        <p:spPr/>
        <p:txBody>
          <a:bodyPr/>
          <a:lstStyle/>
          <a:p>
            <a:fld id="{D836C0FE-70CA-4950-82D6-CF602CC2B770}" type="slidenum">
              <a:rPr lang="de-DE" smtClean="0"/>
              <a:t>2</a:t>
            </a:fld>
            <a:endParaRPr lang="de-DE" dirty="0"/>
          </a:p>
        </p:txBody>
      </p:sp>
      <p:sp>
        <p:nvSpPr>
          <p:cNvPr id="6" name="Footer Placeholder 5">
            <a:extLst>
              <a:ext uri="{FF2B5EF4-FFF2-40B4-BE49-F238E27FC236}">
                <a16:creationId xmlns:a16="http://schemas.microsoft.com/office/drawing/2014/main" id="{7584B50F-E00D-1BFB-0031-1F12466BF809}"/>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FA31004C-1A0C-97AE-2904-8D07D2A7B35A}"/>
              </a:ext>
            </a:extLst>
          </p:cNvPr>
          <p:cNvSpPr>
            <a:spLocks noGrp="1"/>
          </p:cNvSpPr>
          <p:nvPr>
            <p:ph type="dt" sz="half" idx="10"/>
          </p:nvPr>
        </p:nvSpPr>
        <p:spPr/>
        <p:txBody>
          <a:bodyPr/>
          <a:lstStyle/>
          <a:p>
            <a:fld id="{5432C355-2C04-4127-840B-AECB702C8FCD}" type="datetime1">
              <a:rPr lang="en-US" smtClean="0"/>
              <a:t>6/9/2026</a:t>
            </a:fld>
            <a:endParaRPr lang="de-DE" dirty="0"/>
          </a:p>
        </p:txBody>
      </p:sp>
    </p:spTree>
    <p:extLst>
      <p:ext uri="{BB962C8B-B14F-4D97-AF65-F5344CB8AC3E}">
        <p14:creationId xmlns:p14="http://schemas.microsoft.com/office/powerpoint/2010/main" val="167931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FF7D-24CA-E21A-8876-3BD147159702}"/>
              </a:ext>
            </a:extLst>
          </p:cNvPr>
          <p:cNvSpPr>
            <a:spLocks noGrp="1"/>
          </p:cNvSpPr>
          <p:nvPr>
            <p:ph type="title"/>
          </p:nvPr>
        </p:nvSpPr>
        <p:spPr>
          <a:xfrm>
            <a:off x="686386" y="746140"/>
            <a:ext cx="8928100" cy="792000"/>
          </a:xfrm>
        </p:spPr>
        <p:txBody>
          <a:bodyPr/>
          <a:lstStyle/>
          <a:p>
            <a:r>
              <a:rPr lang="de-DE" dirty="0"/>
              <a:t>Motivation</a:t>
            </a:r>
            <a:endParaRPr lang="en-US" dirty="0"/>
          </a:p>
        </p:txBody>
      </p:sp>
      <p:sp>
        <p:nvSpPr>
          <p:cNvPr id="3" name="Content Placeholder 2">
            <a:extLst>
              <a:ext uri="{FF2B5EF4-FFF2-40B4-BE49-F238E27FC236}">
                <a16:creationId xmlns:a16="http://schemas.microsoft.com/office/drawing/2014/main" id="{61D818FD-F4EF-BF1D-027A-6BCA6DE2EB58}"/>
              </a:ext>
            </a:extLst>
          </p:cNvPr>
          <p:cNvSpPr>
            <a:spLocks noGrp="1"/>
          </p:cNvSpPr>
          <p:nvPr>
            <p:ph idx="1"/>
          </p:nvPr>
        </p:nvSpPr>
        <p:spPr>
          <a:xfrm>
            <a:off x="686386" y="1528455"/>
            <a:ext cx="10873283" cy="4583405"/>
          </a:xfrm>
        </p:spPr>
        <p:txBody>
          <a:bodyPr wrap="square"/>
          <a:lstStyle/>
          <a:p>
            <a:pPr>
              <a:spcBef>
                <a:spcPts val="800"/>
              </a:spcBef>
              <a:spcAft>
                <a:spcPts val="400"/>
              </a:spcAft>
            </a:pPr>
            <a:r>
              <a:rPr sz="1800" b="1">
                <a:solidFill>
                  <a:srgbClr val="FF9E1B"/>
                </a:solidFill>
              </a:rPr>
              <a:t>Context</a:t>
            </a:r>
            <a:endParaRPr lang="de-DE" b="1" dirty="0"/>
          </a:p>
          <a:p>
            <a:pPr lvl="1">
              <a:spcAft>
                <a:spcPts val="400"/>
              </a:spcAft>
            </a:pPr>
            <a:r>
              <a:rPr sz="1600" b="0"/>
              <a:t>EEG sleep staging — 128 subjects, BOAS dataset</a:t>
            </a:r>
          </a:p>
          <a:p>
            <a:pPr lvl="1">
              <a:spcAft>
                <a:spcPts val="400"/>
              </a:spcAft>
            </a:pPr>
            <a:r>
              <a:rPr sz="1600" b="0"/>
              <a:t>LOSO: gold standard for subject-independent medical ML</a:t>
            </a:r>
          </a:p>
          <a:p>
            <a:pPr>
              <a:spcBef>
                <a:spcPts val="800"/>
              </a:spcBef>
              <a:spcAft>
                <a:spcPts val="400"/>
              </a:spcAft>
            </a:pPr>
            <a:r>
              <a:rPr sz="1800" b="1">
                <a:solidFill>
                  <a:srgbClr val="FF9E1B"/>
                </a:solidFill>
              </a:rPr>
              <a:t>The Challenge</a:t>
            </a:r>
          </a:p>
          <a:p>
            <a:pPr lvl="1">
              <a:spcAft>
                <a:spcPts val="400"/>
              </a:spcAft>
            </a:pPr>
            <a:r>
              <a:rPr sz="1600" b="0"/>
              <a:t>128 subjects × 18 configs ≈ 21 hours per sweep</a:t>
            </a:r>
          </a:p>
          <a:p>
            <a:pPr lvl="1">
              <a:spcAft>
                <a:spcPts val="400"/>
              </a:spcAft>
            </a:pPr>
            <a:r>
              <a:rPr sz="1600" b="0"/>
              <a:t>Change one parameter → recompute all folds</a:t>
            </a:r>
          </a:p>
          <a:p>
            <a:pPr>
              <a:spcBef>
                <a:spcPts val="800"/>
              </a:spcBef>
              <a:spcAft>
                <a:spcPts val="400"/>
              </a:spcAft>
            </a:pPr>
            <a:r>
              <a:rPr sz="1800" b="1">
                <a:solidFill>
                  <a:srgbClr val="FF9E1B"/>
                </a:solidFill>
              </a:rPr>
              <a:t>Research Questions</a:t>
            </a:r>
          </a:p>
          <a:p>
            <a:pPr lvl="1">
              <a:spcAft>
                <a:spcPts val="400"/>
              </a:spcAft>
            </a:pPr>
            <a:r>
              <a:rPr sz="1600" b="0"/>
              <a:t>RQ1: What speedup and hit rates does caching achieve?</a:t>
            </a:r>
          </a:p>
          <a:p>
            <a:pPr lvl="1">
              <a:spcAft>
                <a:spcPts val="400"/>
              </a:spcAft>
            </a:pPr>
            <a:r>
              <a:rPr sz="1600" b="0"/>
              <a:t>RQ2: Are cached results bitwise-identical?</a:t>
            </a:r>
          </a:p>
          <a:p>
            <a:pPr lvl="1">
              <a:spcAft>
                <a:spcPts val="400"/>
              </a:spcAft>
            </a:pPr>
            <a:r>
              <a:rPr sz="1600" b="0"/>
              <a:t>RQ3: Does benefit scale with subject count N?</a:t>
            </a:r>
          </a:p>
          <a:p>
            <a:pPr lvl="1">
              <a:spcAft>
                <a:spcPts val="400"/>
              </a:spcAft>
            </a:pPr>
            <a:r>
              <a:rPr sz="1600" b="0"/>
              <a:t>RQ4: When is caching storage-efficient (η)?</a:t>
            </a:r>
          </a:p>
        </p:txBody>
      </p:sp>
      <p:sp>
        <p:nvSpPr>
          <p:cNvPr id="5" name="Slide Number Placeholder 4">
            <a:extLst>
              <a:ext uri="{FF2B5EF4-FFF2-40B4-BE49-F238E27FC236}">
                <a16:creationId xmlns:a16="http://schemas.microsoft.com/office/drawing/2014/main" id="{6512CD49-B9C5-E480-3E35-9659FC7574D0}"/>
              </a:ext>
            </a:extLst>
          </p:cNvPr>
          <p:cNvSpPr>
            <a:spLocks noGrp="1"/>
          </p:cNvSpPr>
          <p:nvPr>
            <p:ph type="sldNum" sz="quarter" idx="12"/>
          </p:nvPr>
        </p:nvSpPr>
        <p:spPr/>
        <p:txBody>
          <a:bodyPr/>
          <a:lstStyle/>
          <a:p>
            <a:fld id="{D836C0FE-70CA-4950-82D6-CF602CC2B770}" type="slidenum">
              <a:rPr lang="de-DE" smtClean="0"/>
              <a:t>3</a:t>
            </a:fld>
            <a:endParaRPr lang="de-DE" dirty="0"/>
          </a:p>
        </p:txBody>
      </p:sp>
      <p:sp>
        <p:nvSpPr>
          <p:cNvPr id="6" name="Footer Placeholder 5">
            <a:extLst>
              <a:ext uri="{FF2B5EF4-FFF2-40B4-BE49-F238E27FC236}">
                <a16:creationId xmlns:a16="http://schemas.microsoft.com/office/drawing/2014/main" id="{C5F30C81-C90A-2B26-06FF-F1530B6329EC}"/>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7A9F2C4C-0D65-F25B-7D25-01C489728885}"/>
              </a:ext>
            </a:extLst>
          </p:cNvPr>
          <p:cNvSpPr>
            <a:spLocks noGrp="1"/>
          </p:cNvSpPr>
          <p:nvPr>
            <p:ph type="dt" sz="half" idx="10"/>
          </p:nvPr>
        </p:nvSpPr>
        <p:spPr/>
        <p:txBody>
          <a:bodyPr/>
          <a:lstStyle/>
          <a:p>
            <a:fld id="{8F1CE275-DEAB-481B-8EDA-D98F481EEFC8}" type="datetime1">
              <a:rPr lang="en-US" smtClean="0"/>
              <a:t>6/9/2026</a:t>
            </a:fld>
            <a:endParaRPr lang="de-DE" dirty="0"/>
          </a:p>
        </p:txBody>
      </p:sp>
    </p:spTree>
    <p:extLst>
      <p:ext uri="{BB962C8B-B14F-4D97-AF65-F5344CB8AC3E}">
        <p14:creationId xmlns:p14="http://schemas.microsoft.com/office/powerpoint/2010/main" val="980036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6D343-E712-416D-18DB-BECD1C8BAFAE}"/>
              </a:ext>
            </a:extLst>
          </p:cNvPr>
          <p:cNvSpPr>
            <a:spLocks noGrp="1"/>
          </p:cNvSpPr>
          <p:nvPr>
            <p:ph type="title"/>
          </p:nvPr>
        </p:nvSpPr>
        <p:spPr/>
        <p:txBody>
          <a:bodyPr/>
          <a:lstStyle/>
          <a:p>
            <a:r>
              <a:t>State of the Art</a:t>
            </a:r>
          </a:p>
        </p:txBody>
      </p:sp>
      <p:sp>
        <p:nvSpPr>
          <p:cNvPr id="3" name="Content Placeholder 2">
            <a:extLst>
              <a:ext uri="{FF2B5EF4-FFF2-40B4-BE49-F238E27FC236}">
                <a16:creationId xmlns:a16="http://schemas.microsoft.com/office/drawing/2014/main" id="{FD25B200-BD9D-029A-0536-C8B073B952D7}"/>
              </a:ext>
            </a:extLst>
          </p:cNvPr>
          <p:cNvSpPr>
            <a:spLocks noGrp="1"/>
          </p:cNvSpPr>
          <p:nvPr>
            <p:ph idx="1"/>
          </p:nvPr>
        </p:nvSpPr>
        <p:spPr>
          <a:xfrm>
            <a:off x="695325" y="1417320"/>
            <a:ext cx="8928100" cy="548640"/>
          </a:xfrm>
        </p:spPr>
        <p:txBody>
          <a:bodyPr wrap="square"/>
          <a:lstStyle/>
          <a:p>
            <a:pPr marL="285750" indent="-285750">
              <a:spcBef>
                <a:spcPts val="800"/>
              </a:spcBef>
              <a:spcAft>
                <a:spcPts val="400"/>
              </a:spcAft>
              <a:buFont typeface="Arial" panose="020B0604020202020204" pitchFamily="34" charset="0"/>
              <a:buChar char="•"/>
            </a:pPr>
            <a:r>
              <a:rPr sz="2000" b="1"/>
              <a:t>Every ingredient already exists — nobody combines them.</a:t>
            </a:r>
            <a:endParaRPr lang="de-DE" dirty="0"/>
          </a:p>
        </p:txBody>
      </p:sp>
      <p:sp>
        <p:nvSpPr>
          <p:cNvPr id="5" name="TextBox 4">
            <a:extLst>
              <a:ext uri="{FF2B5EF4-FFF2-40B4-BE49-F238E27FC236}">
                <a16:creationId xmlns:a16="http://schemas.microsoft.com/office/drawing/2014/main" id="{BDE7E788-628A-C131-4D42-FFD37C26A687}"/>
              </a:ext>
            </a:extLst>
          </p:cNvPr>
          <p:cNvSpPr txBox="1"/>
          <p:nvPr/>
        </p:nvSpPr>
        <p:spPr>
          <a:xfrm>
            <a:off x="839416" y="5373216"/>
            <a:ext cx="9560074" cy="338554"/>
          </a:xfrm>
          <a:prstGeom prst="rect">
            <a:avLst/>
          </a:prstGeom>
          <a:noFill/>
        </p:spPr>
        <p:txBody>
          <a:bodyPr wrap="square">
            <a:spAutoFit/>
          </a:bodyPr>
          <a:lstStyle/>
          <a:p>
            <a:r>
              <a:rPr sz="1100" i="1">
                <a:solidFill>
                  <a:srgbClr val="768692"/>
                </a:solidFill>
              </a:rPr>
              <a:t>D. Kreuzberger, N. Kühl, S. Hirschl, “Machine Learning Operations (MLOps): Overview, Definition, and Architecture,” IEEE Access, vol. 11, 2023.</a:t>
            </a:r>
          </a:p>
        </p:txBody>
      </p:sp>
      <p:sp>
        <p:nvSpPr>
          <p:cNvPr id="6" name="Slide Number Placeholder 5">
            <a:extLst>
              <a:ext uri="{FF2B5EF4-FFF2-40B4-BE49-F238E27FC236}">
                <a16:creationId xmlns:a16="http://schemas.microsoft.com/office/drawing/2014/main" id="{DE359CCB-A840-E9F8-9B0F-D3A43ECF6A01}"/>
              </a:ext>
            </a:extLst>
          </p:cNvPr>
          <p:cNvSpPr>
            <a:spLocks noGrp="1"/>
          </p:cNvSpPr>
          <p:nvPr>
            <p:ph type="sldNum" sz="quarter" idx="12"/>
          </p:nvPr>
        </p:nvSpPr>
        <p:spPr/>
        <p:txBody>
          <a:bodyPr/>
          <a:lstStyle/>
          <a:p>
            <a:fld id="{D836C0FE-70CA-4950-82D6-CF602CC2B770}" type="slidenum">
              <a:rPr lang="de-DE" smtClean="0"/>
              <a:t>4</a:t>
            </a:fld>
            <a:endParaRPr lang="de-DE" dirty="0"/>
          </a:p>
        </p:txBody>
      </p:sp>
      <p:sp>
        <p:nvSpPr>
          <p:cNvPr id="7" name="Footer Placeholder 6">
            <a:extLst>
              <a:ext uri="{FF2B5EF4-FFF2-40B4-BE49-F238E27FC236}">
                <a16:creationId xmlns:a16="http://schemas.microsoft.com/office/drawing/2014/main" id="{CB265C9E-7045-F001-FB1D-0558EA0A4482}"/>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8" name="Date Placeholder 7">
            <a:extLst>
              <a:ext uri="{FF2B5EF4-FFF2-40B4-BE49-F238E27FC236}">
                <a16:creationId xmlns:a16="http://schemas.microsoft.com/office/drawing/2014/main" id="{A1675BF1-D67B-E57D-23E7-5BEF1050A86F}"/>
              </a:ext>
            </a:extLst>
          </p:cNvPr>
          <p:cNvSpPr>
            <a:spLocks noGrp="1"/>
          </p:cNvSpPr>
          <p:nvPr>
            <p:ph type="dt" sz="half" idx="10"/>
          </p:nvPr>
        </p:nvSpPr>
        <p:spPr/>
        <p:txBody>
          <a:bodyPr/>
          <a:lstStyle/>
          <a:p>
            <a:fld id="{3502482C-12FD-4A38-AB7D-4E215C3B8084}" type="datetime1">
              <a:rPr lang="en-US" smtClean="0"/>
              <a:t>6/9/2026</a:t>
            </a:fld>
            <a:endParaRPr lang="de-DE" dirty="0"/>
          </a:p>
        </p:txBody>
      </p:sp>
      <p:graphicFrame>
        <p:nvGraphicFramePr>
          <p:cNvPr id="9" name="Table 8"/>
          <p:cNvGraphicFramePr>
            <a:graphicFrameLocks noGrp="1"/>
          </p:cNvGraphicFramePr>
          <p:nvPr/>
        </p:nvGraphicFramePr>
        <p:xfrm>
          <a:off x="822960" y="2148840"/>
          <a:ext cx="10515600" cy="2834640"/>
        </p:xfrm>
        <a:graphic>
          <a:graphicData uri="http://schemas.openxmlformats.org/drawingml/2006/table">
            <a:tbl>
              <a:tblPr bandRow="1">
                <a:tableStyleId>{5C22544A-7EE6-4342-B048-85BDC9FD1C3A}</a:tableStyleId>
              </a:tblPr>
              <a:tblGrid>
                <a:gridCol w="4754880"/>
                <a:gridCol w="5760720"/>
              </a:tblGrid>
              <a:tr h="472440">
                <a:tc>
                  <a:txBody>
                    <a:bodyPr wrap="square"/>
                    <a:lstStyle/>
                    <a:p>
                      <a:r>
                        <a:rPr sz="1700" b="1">
                          <a:solidFill>
                            <a:srgbClr val="FFFFFF"/>
                          </a:solidFill>
                          <a:latin typeface="Arial"/>
                        </a:rPr>
                        <a:t>Capability</a:t>
                      </a:r>
                    </a:p>
                  </a:txBody>
                  <a:tcPr anchor="ctr" marT="38100" marB="38100">
                    <a:solidFill>
                      <a:srgbClr val="FF9E1B"/>
                    </a:solidFill>
                  </a:tcPr>
                </a:tc>
                <a:tc>
                  <a:txBody>
                    <a:bodyPr wrap="square"/>
                    <a:lstStyle/>
                    <a:p>
                      <a:r>
                        <a:rPr sz="1700" b="1">
                          <a:solidFill>
                            <a:srgbClr val="FFFFFF"/>
                          </a:solidFill>
                          <a:latin typeface="Arial"/>
                        </a:rPr>
                        <a:t>Tools</a:t>
                      </a:r>
                    </a:p>
                  </a:txBody>
                  <a:tcPr anchor="ctr" marT="38100" marB="38100">
                    <a:solidFill>
                      <a:srgbClr val="FF9E1B"/>
                    </a:solidFill>
                  </a:tcPr>
                </a:tc>
              </a:tr>
              <a:tr h="472440">
                <a:tc>
                  <a:txBody>
                    <a:bodyPr wrap="square"/>
                    <a:lstStyle/>
                    <a:p>
                      <a:r>
                        <a:rPr sz="1700">
                          <a:solidFill>
                            <a:srgbClr val="262B2F"/>
                          </a:solidFill>
                          <a:latin typeface="Arial"/>
                        </a:rPr>
                        <a:t>Experiment tracking</a:t>
                      </a:r>
                    </a:p>
                  </a:txBody>
                  <a:tcPr anchor="ctr" marT="38100" marB="38100">
                    <a:solidFill>
                      <a:srgbClr val="FFFFFF"/>
                    </a:solidFill>
                  </a:tcPr>
                </a:tc>
                <a:tc>
                  <a:txBody>
                    <a:bodyPr wrap="square"/>
                    <a:lstStyle/>
                    <a:p>
                      <a:r>
                        <a:rPr sz="1700">
                          <a:solidFill>
                            <a:srgbClr val="262B2F"/>
                          </a:solidFill>
                          <a:latin typeface="Arial"/>
                        </a:rPr>
                        <a:t>MLflow, W&amp;B</a:t>
                      </a:r>
                    </a:p>
                  </a:txBody>
                  <a:tcPr anchor="ctr" marT="38100" marB="38100">
                    <a:solidFill>
                      <a:srgbClr val="FFFFFF"/>
                    </a:solidFill>
                  </a:tcPr>
                </a:tc>
              </a:tr>
              <a:tr h="472440">
                <a:tc>
                  <a:txBody>
                    <a:bodyPr wrap="square"/>
                    <a:lstStyle/>
                    <a:p>
                      <a:r>
                        <a:rPr sz="1700">
                          <a:solidFill>
                            <a:srgbClr val="262B2F"/>
                          </a:solidFill>
                          <a:latin typeface="Arial"/>
                        </a:rPr>
                        <a:t>Pipeline caching</a:t>
                      </a:r>
                    </a:p>
                  </a:txBody>
                  <a:tcPr anchor="ctr" marT="38100" marB="38100">
                    <a:solidFill>
                      <a:srgbClr val="FFFFFF"/>
                    </a:solidFill>
                  </a:tcPr>
                </a:tc>
                <a:tc>
                  <a:txBody>
                    <a:bodyPr wrap="square"/>
                    <a:lstStyle/>
                    <a:p>
                      <a:r>
                        <a:rPr sz="1700">
                          <a:solidFill>
                            <a:srgbClr val="262B2F"/>
                          </a:solidFill>
                          <a:latin typeface="Arial"/>
                        </a:rPr>
                        <a:t>DVC, ZenML</a:t>
                      </a:r>
                    </a:p>
                  </a:txBody>
                  <a:tcPr anchor="ctr" marT="38100" marB="38100">
                    <a:solidFill>
                      <a:srgbClr val="FFFFFF"/>
                    </a:solidFill>
                  </a:tcPr>
                </a:tc>
              </a:tr>
              <a:tr h="472440">
                <a:tc>
                  <a:txBody>
                    <a:bodyPr wrap="square"/>
                    <a:lstStyle/>
                    <a:p>
                      <a:r>
                        <a:rPr sz="1700">
                          <a:solidFill>
                            <a:srgbClr val="262B2F"/>
                          </a:solidFill>
                          <a:latin typeface="Arial"/>
                        </a:rPr>
                        <a:t>Config fingerprinting</a:t>
                      </a:r>
                    </a:p>
                  </a:txBody>
                  <a:tcPr anchor="ctr" marT="38100" marB="38100">
                    <a:solidFill>
                      <a:srgbClr val="FFFFFF"/>
                    </a:solidFill>
                  </a:tcPr>
                </a:tc>
                <a:tc>
                  <a:txBody>
                    <a:bodyPr wrap="square"/>
                    <a:lstStyle/>
                    <a:p>
                      <a:r>
                        <a:rPr sz="1700">
                          <a:solidFill>
                            <a:srgbClr val="262B2F"/>
                          </a:solidFill>
                          <a:latin typeface="Arial"/>
                        </a:rPr>
                        <a:t>DVC (MD5), ZenML (SHA-256)</a:t>
                      </a:r>
                    </a:p>
                  </a:txBody>
                  <a:tcPr anchor="ctr" marT="38100" marB="38100">
                    <a:solidFill>
                      <a:srgbClr val="FFFFFF"/>
                    </a:solidFill>
                  </a:tcPr>
                </a:tc>
              </a:tr>
              <a:tr h="472440">
                <a:tc>
                  <a:txBody>
                    <a:bodyPr wrap="square"/>
                    <a:lstStyle/>
                    <a:p>
                      <a:r>
                        <a:rPr sz="1700">
                          <a:solidFill>
                            <a:srgbClr val="262B2F"/>
                          </a:solidFill>
                          <a:latin typeface="Arial"/>
                        </a:rPr>
                        <a:t>LOSO splitting</a:t>
                      </a:r>
                    </a:p>
                  </a:txBody>
                  <a:tcPr anchor="ctr" marT="38100" marB="38100">
                    <a:solidFill>
                      <a:srgbClr val="FFFFFF"/>
                    </a:solidFill>
                  </a:tcPr>
                </a:tc>
                <a:tc>
                  <a:txBody>
                    <a:bodyPr wrap="square"/>
                    <a:lstStyle/>
                    <a:p>
                      <a:r>
                        <a:rPr sz="1700">
                          <a:solidFill>
                            <a:srgbClr val="262B2F"/>
                          </a:solidFill>
                          <a:latin typeface="Arial"/>
                        </a:rPr>
                        <a:t>scikit-learn</a:t>
                      </a:r>
                    </a:p>
                  </a:txBody>
                  <a:tcPr anchor="ctr" marT="38100" marB="38100">
                    <a:solidFill>
                      <a:srgbClr val="FFFFFF"/>
                    </a:solidFill>
                  </a:tcPr>
                </a:tc>
              </a:tr>
              <a:tr h="472440">
                <a:tc>
                  <a:txBody>
                    <a:bodyPr wrap="square"/>
                    <a:lstStyle/>
                    <a:p>
                      <a:r>
                        <a:rPr sz="1700" b="1">
                          <a:solidFill>
                            <a:srgbClr val="262B2F"/>
                          </a:solidFill>
                          <a:latin typeface="Arial"/>
                        </a:rPr>
                        <a:t>Combination + held-out subject</a:t>
                      </a:r>
                    </a:p>
                  </a:txBody>
                  <a:tcPr anchor="ctr" marT="38100" marB="38100">
                    <a:solidFill>
                      <a:srgbClr val="FFE3C1"/>
                    </a:solidFill>
                  </a:tcPr>
                </a:tc>
                <a:tc>
                  <a:txBody>
                    <a:bodyPr wrap="square"/>
                    <a:lstStyle/>
                    <a:p>
                      <a:r>
                        <a:rPr sz="1700" b="1">
                          <a:solidFill>
                            <a:srgbClr val="FF9E1B"/>
                          </a:solidFill>
                          <a:latin typeface="Arial"/>
                        </a:rPr>
                        <a:t>— none —</a:t>
                      </a:r>
                    </a:p>
                  </a:txBody>
                  <a:tcPr anchor="ctr" marT="38100" marB="38100">
                    <a:solidFill>
                      <a:srgbClr val="FFE3C1"/>
                    </a:solidFill>
                  </a:tcPr>
                </a:tc>
              </a:tr>
            </a:tbl>
          </a:graphicData>
        </a:graphic>
      </p:graphicFrame>
    </p:spTree>
    <p:extLst>
      <p:ext uri="{BB962C8B-B14F-4D97-AF65-F5344CB8AC3E}">
        <p14:creationId xmlns:p14="http://schemas.microsoft.com/office/powerpoint/2010/main" val="35928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9B7F1-601D-DDE4-3C1E-8C122962E73E}"/>
              </a:ext>
            </a:extLst>
          </p:cNvPr>
          <p:cNvSpPr>
            <a:spLocks noGrp="1"/>
          </p:cNvSpPr>
          <p:nvPr>
            <p:ph type="title"/>
          </p:nvPr>
        </p:nvSpPr>
        <p:spPr/>
        <p:txBody>
          <a:bodyPr/>
          <a:lstStyle/>
          <a:p>
            <a:r>
              <a:t>Model — The Fingerprint</a:t>
            </a:r>
          </a:p>
        </p:txBody>
      </p:sp>
      <p:sp>
        <p:nvSpPr>
          <p:cNvPr id="3" name="Content Placeholder 2">
            <a:extLst>
              <a:ext uri="{FF2B5EF4-FFF2-40B4-BE49-F238E27FC236}">
                <a16:creationId xmlns:a16="http://schemas.microsoft.com/office/drawing/2014/main" id="{1F73331C-9C87-3A56-611A-717203442CFA}"/>
              </a:ext>
            </a:extLst>
          </p:cNvPr>
          <p:cNvSpPr>
            <a:spLocks noGrp="1"/>
          </p:cNvSpPr>
          <p:nvPr>
            <p:ph idx="1"/>
          </p:nvPr>
        </p:nvSpPr>
        <p:spPr>
          <a:xfrm>
            <a:off x="685800" y="1554480"/>
            <a:ext cx="10789920" cy="3566160"/>
          </a:xfrm>
        </p:spPr>
        <p:txBody>
          <a:bodyPr wrap="square"/>
          <a:lstStyle/>
          <a:p>
            <a:pPr marL="285750" indent="-285750">
              <a:spcBef>
                <a:spcPts val="800"/>
              </a:spcBef>
              <a:spcAft>
                <a:spcPts val="400"/>
              </a:spcAft>
              <a:buFont typeface="Arial" panose="020B0604020202020204" pitchFamily="34" charset="0"/>
              <a:buChar char="•"/>
            </a:pPr>
            <a:r>
              <a:rPr sz="1800" b="1">
                <a:solidFill>
                  <a:srgbClr val="FF9E1B"/>
                </a:solidFill>
              </a:rPr>
              <a:t>Idea: every computation gets an identity</a:t>
            </a:r>
            <a:endParaRPr lang="de-DE" dirty="0"/>
          </a:p>
          <a:p>
            <a:pPr lvl="1">
              <a:spcAft>
                <a:spcPts val="400"/>
              </a:spcAft>
            </a:pPr>
            <a:r>
              <a:rPr sz="1600" b="0"/>
              <a:t>Fingerprint = SHA-256(all inputs)</a:t>
            </a:r>
          </a:p>
          <a:p>
            <a:pPr lvl="1">
              <a:spcAft>
                <a:spcPts val="400"/>
              </a:spcAft>
            </a:pPr>
            <a:r>
              <a:rPr sz="1600" b="0"/>
              <a:t>Inputs: seed, code, params, features</a:t>
            </a:r>
          </a:p>
          <a:p>
            <a:pPr lvl="1">
              <a:spcAft>
                <a:spcPts val="400"/>
              </a:spcAft>
            </a:pPr>
            <a:r>
              <a:rPr sz="1600" b="0"/>
              <a:t>Plus the held-out subject ID</a:t>
            </a:r>
          </a:p>
          <a:p>
            <a:pPr>
              <a:spcBef>
                <a:spcPts val="800"/>
              </a:spcBef>
              <a:spcAft>
                <a:spcPts val="400"/>
              </a:spcAft>
            </a:pPr>
            <a:r>
              <a:rPr sz="1800" b="1">
                <a:solidFill>
                  <a:srgbClr val="FF9E1B"/>
                </a:solidFill>
              </a:rPr>
              <a:t>Behaviour</a:t>
            </a:r>
          </a:p>
          <a:p>
            <a:pPr lvl="1">
              <a:spcAft>
                <a:spcPts val="400"/>
              </a:spcAft>
            </a:pPr>
            <a:r>
              <a:rPr sz="1600" b="0"/>
              <a:t>Same config → same key → reuse</a:t>
            </a:r>
          </a:p>
          <a:p>
            <a:pPr lvl="1">
              <a:spcAft>
                <a:spcPts val="400"/>
              </a:spcAft>
            </a:pPr>
            <a:r>
              <a:rPr sz="1600" b="0"/>
              <a:t>Change anything → new key → recompute</a:t>
            </a:r>
          </a:p>
          <a:p>
            <a:pPr>
              <a:spcBef>
                <a:spcPts val="800"/>
              </a:spcBef>
              <a:spcAft>
                <a:spcPts val="400"/>
              </a:spcAft>
            </a:pPr>
            <a:r>
              <a:rPr sz="1800" b="1">
                <a:solidFill>
                  <a:srgbClr val="FF9E1B"/>
                </a:solidFill>
              </a:rPr>
              <a:t>Why not generic caching?</a:t>
            </a:r>
          </a:p>
          <a:p>
            <a:pPr lvl="1">
              <a:spcAft>
                <a:spcPts val="400"/>
              </a:spcAft>
            </a:pPr>
            <a:r>
              <a:rPr sz="1600" b="0"/>
              <a:t>No fold identity → wrong-subject hit is silent</a:t>
            </a:r>
          </a:p>
        </p:txBody>
      </p:sp>
      <p:sp>
        <p:nvSpPr>
          <p:cNvPr id="5" name="Slide Number Placeholder 4">
            <a:extLst>
              <a:ext uri="{FF2B5EF4-FFF2-40B4-BE49-F238E27FC236}">
                <a16:creationId xmlns:a16="http://schemas.microsoft.com/office/drawing/2014/main" id="{A9088F7B-D4F9-2188-7A05-07306F574F0D}"/>
              </a:ext>
            </a:extLst>
          </p:cNvPr>
          <p:cNvSpPr>
            <a:spLocks noGrp="1"/>
          </p:cNvSpPr>
          <p:nvPr>
            <p:ph type="sldNum" sz="quarter" idx="12"/>
          </p:nvPr>
        </p:nvSpPr>
        <p:spPr/>
        <p:txBody>
          <a:bodyPr/>
          <a:lstStyle/>
          <a:p>
            <a:fld id="{D836C0FE-70CA-4950-82D6-CF602CC2B770}" type="slidenum">
              <a:rPr lang="de-DE" smtClean="0"/>
              <a:t>5</a:t>
            </a:fld>
            <a:endParaRPr lang="de-DE" dirty="0"/>
          </a:p>
        </p:txBody>
      </p:sp>
      <p:sp>
        <p:nvSpPr>
          <p:cNvPr id="6" name="Footer Placeholder 5">
            <a:extLst>
              <a:ext uri="{FF2B5EF4-FFF2-40B4-BE49-F238E27FC236}">
                <a16:creationId xmlns:a16="http://schemas.microsoft.com/office/drawing/2014/main" id="{66888E83-31D9-3726-3472-8BD2CB2458DA}"/>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BA76A76D-E972-7CF6-BCB5-2F772C54F699}"/>
              </a:ext>
            </a:extLst>
          </p:cNvPr>
          <p:cNvSpPr>
            <a:spLocks noGrp="1"/>
          </p:cNvSpPr>
          <p:nvPr>
            <p:ph type="dt" sz="half" idx="10"/>
          </p:nvPr>
        </p:nvSpPr>
        <p:spPr/>
        <p:txBody>
          <a:bodyPr/>
          <a:lstStyle/>
          <a:p>
            <a:fld id="{71913426-C297-42D7-93DC-E969B33D92B8}" type="datetime1">
              <a:rPr lang="en-US" smtClean="0"/>
              <a:t>6/9/2026</a:t>
            </a:fld>
            <a:endParaRPr lang="de-DE" dirty="0"/>
          </a:p>
        </p:txBody>
      </p:sp>
      <p:sp>
        <p:nvSpPr>
          <p:cNvPr id="8" name="TextBox 7"/>
          <p:cNvSpPr txBox="1"/>
          <p:nvPr/>
        </p:nvSpPr>
        <p:spPr>
          <a:xfrm>
            <a:off x="822960" y="5440680"/>
            <a:ext cx="10515600" cy="822960"/>
          </a:xfrm>
          <a:prstGeom prst="rect">
            <a:avLst/>
          </a:prstGeom>
          <a:solidFill>
            <a:srgbClr val="F2F3F4"/>
          </a:solidFill>
          <a:ln w="12700">
            <a:solidFill>
              <a:srgbClr val="FF9E1B"/>
            </a:solidFill>
          </a:ln>
        </p:spPr>
        <p:txBody>
          <a:bodyPr wrap="square" anchor="ctr" lIns="182880">
            <a:spAutoFit/>
          </a:bodyPr>
          <a:lstStyle/>
          <a:p>
            <a:r>
              <a:rPr sz="1600">
                <a:solidFill>
                  <a:srgbClr val="262B2F"/>
                </a:solidFill>
                <a:latin typeface="Consolas"/>
              </a:rPr>
              <a:t>cache_key = SHA-256(seed, code, params, features) + </a:t>
            </a:r>
            <a:r>
              <a:rPr sz="1600" b="1">
                <a:solidFill>
                  <a:srgbClr val="FF9E1B"/>
                </a:solidFill>
                <a:latin typeface="Consolas"/>
              </a:rPr>
              <a:t>held_out_subject</a:t>
            </a:r>
          </a:p>
        </p:txBody>
      </p:sp>
    </p:spTree>
    <p:extLst>
      <p:ext uri="{BB962C8B-B14F-4D97-AF65-F5344CB8AC3E}">
        <p14:creationId xmlns:p14="http://schemas.microsoft.com/office/powerpoint/2010/main" val="1948685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3941-A72F-6E13-FE90-FBAA4453B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38AEA-7993-1B34-67E1-19C3EB06D18E}"/>
              </a:ext>
            </a:extLst>
          </p:cNvPr>
          <p:cNvSpPr>
            <a:spLocks noGrp="1"/>
          </p:cNvSpPr>
          <p:nvPr>
            <p:ph type="title"/>
          </p:nvPr>
        </p:nvSpPr>
        <p:spPr/>
        <p:txBody>
          <a:bodyPr/>
          <a:lstStyle/>
          <a:p>
            <a:r>
              <a:t>Implementation</a:t>
            </a:r>
          </a:p>
        </p:txBody>
      </p:sp>
      <p:sp>
        <p:nvSpPr>
          <p:cNvPr id="3" name="Content Placeholder 2">
            <a:extLst>
              <a:ext uri="{FF2B5EF4-FFF2-40B4-BE49-F238E27FC236}">
                <a16:creationId xmlns:a16="http://schemas.microsoft.com/office/drawing/2014/main" id="{611F01D7-A7C6-8C3F-CA05-BA2A667F9620}"/>
              </a:ext>
            </a:extLst>
          </p:cNvPr>
          <p:cNvSpPr>
            <a:spLocks noGrp="1"/>
          </p:cNvSpPr>
          <p:nvPr>
            <p:ph idx="1"/>
          </p:nvPr>
        </p:nvSpPr>
        <p:spPr>
          <a:xfrm>
            <a:off x="685800" y="1554480"/>
            <a:ext cx="4206240" cy="4389120"/>
          </a:xfrm>
        </p:spPr>
        <p:txBody>
          <a:bodyPr wrap="square"/>
          <a:lstStyle/>
          <a:p>
            <a:pPr marL="285750" indent="-285750">
              <a:spcBef>
                <a:spcPts val="800"/>
              </a:spcBef>
              <a:spcAft>
                <a:spcPts val="400"/>
              </a:spcAft>
              <a:buFont typeface="Arial" panose="020B0604020202020204" pitchFamily="34" charset="0"/>
              <a:buChar char="•"/>
            </a:pPr>
            <a:r>
              <a:rPr sz="1800" b="1">
                <a:solidFill>
                  <a:srgbClr val="FF9E1B"/>
                </a:solidFill>
              </a:rPr>
              <a:t>Two-layer cache</a:t>
            </a:r>
            <a:endParaRPr lang="de-DE" dirty="0"/>
          </a:p>
          <a:p>
            <a:pPr lvl="1">
              <a:spcAft>
                <a:spcPts val="400"/>
              </a:spcAft>
            </a:pPr>
            <a:r>
              <a:rPr sz="1600" b="0"/>
              <a:t>Layer 1: features — always valid</a:t>
            </a:r>
          </a:p>
          <a:p>
            <a:pPr lvl="1">
              <a:spcAft>
                <a:spcPts val="400"/>
              </a:spcAft>
            </a:pPr>
            <a:r>
              <a:rPr sz="1600" b="0"/>
              <a:t>Layer 2: models — fingerprint-keyed</a:t>
            </a:r>
          </a:p>
          <a:p>
            <a:pPr>
              <a:spcBef>
                <a:spcPts val="800"/>
              </a:spcBef>
              <a:spcAft>
                <a:spcPts val="400"/>
              </a:spcAft>
            </a:pPr>
            <a:r>
              <a:rPr sz="1800" b="1">
                <a:solidFill>
                  <a:srgbClr val="FF9E1B"/>
                </a:solidFill>
              </a:rPr>
              <a:t>Flow</a:t>
            </a:r>
          </a:p>
          <a:p>
            <a:pPr lvl="1">
              <a:spcAft>
                <a:spcPts val="400"/>
              </a:spcAft>
            </a:pPr>
            <a:r>
              <a:rPr sz="1600" b="0"/>
              <a:t>Miss → train → store → reuse</a:t>
            </a:r>
          </a:p>
          <a:p>
            <a:pPr lvl="1">
              <a:spcAft>
                <a:spcPts val="400"/>
              </a:spcAft>
            </a:pPr>
            <a:r>
              <a:rPr sz="1600" b="0"/>
              <a:t>Validated: zero hash collisions</a:t>
            </a:r>
          </a:p>
        </p:txBody>
      </p:sp>
      <p:sp>
        <p:nvSpPr>
          <p:cNvPr id="5" name="Slide Number Placeholder 4">
            <a:extLst>
              <a:ext uri="{FF2B5EF4-FFF2-40B4-BE49-F238E27FC236}">
                <a16:creationId xmlns:a16="http://schemas.microsoft.com/office/drawing/2014/main" id="{FC1289B0-CF79-5D75-6D02-2DE6B3A5A8BF}"/>
              </a:ext>
            </a:extLst>
          </p:cNvPr>
          <p:cNvSpPr>
            <a:spLocks noGrp="1"/>
          </p:cNvSpPr>
          <p:nvPr>
            <p:ph type="sldNum" sz="quarter" idx="12"/>
          </p:nvPr>
        </p:nvSpPr>
        <p:spPr/>
        <p:txBody>
          <a:bodyPr/>
          <a:lstStyle/>
          <a:p>
            <a:fld id="{D836C0FE-70CA-4950-82D6-CF602CC2B770}" type="slidenum">
              <a:rPr lang="de-DE" smtClean="0"/>
              <a:t>6</a:t>
            </a:fld>
            <a:endParaRPr lang="de-DE" dirty="0"/>
          </a:p>
        </p:txBody>
      </p:sp>
      <p:sp>
        <p:nvSpPr>
          <p:cNvPr id="6" name="Footer Placeholder 5">
            <a:extLst>
              <a:ext uri="{FF2B5EF4-FFF2-40B4-BE49-F238E27FC236}">
                <a16:creationId xmlns:a16="http://schemas.microsoft.com/office/drawing/2014/main" id="{A3DB9A9C-0960-1A65-11DD-D1E40223868C}"/>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E213F8F3-92F9-5270-F035-2609F1C2C23B}"/>
              </a:ext>
            </a:extLst>
          </p:cNvPr>
          <p:cNvSpPr>
            <a:spLocks noGrp="1"/>
          </p:cNvSpPr>
          <p:nvPr>
            <p:ph type="dt" sz="half" idx="10"/>
          </p:nvPr>
        </p:nvSpPr>
        <p:spPr/>
        <p:txBody>
          <a:bodyPr/>
          <a:lstStyle/>
          <a:p>
            <a:fld id="{71913426-C297-42D7-93DC-E969B33D92B8}" type="datetime1">
              <a:rPr lang="en-US" smtClean="0"/>
              <a:t>6/9/2026</a:t>
            </a:fld>
            <a:endParaRPr lang="de-DE" dirty="0"/>
          </a:p>
        </p:txBody>
      </p:sp>
      <p:pic>
        <p:nvPicPr>
          <p:cNvPr id="8" name="Picture 7" descr="pipeline.png"/>
          <p:cNvPicPr>
            <a:picLocks noChangeAspect="1"/>
          </p:cNvPicPr>
          <p:nvPr/>
        </p:nvPicPr>
        <p:blipFill>
          <a:blip r:embed="rId2"/>
          <a:stretch>
            <a:fillRect/>
          </a:stretch>
        </p:blipFill>
        <p:spPr>
          <a:xfrm>
            <a:off x="5074920" y="2018035"/>
            <a:ext cx="6492240" cy="3187689"/>
          </a:xfrm>
          <a:prstGeom prst="rect">
            <a:avLst/>
          </a:prstGeom>
        </p:spPr>
      </p:pic>
      <p:sp>
        <p:nvSpPr>
          <p:cNvPr id="9" name="TextBox 8"/>
          <p:cNvSpPr txBox="1"/>
          <p:nvPr/>
        </p:nvSpPr>
        <p:spPr>
          <a:xfrm>
            <a:off x="5074920" y="5669280"/>
            <a:ext cx="6492240" cy="365760"/>
          </a:xfrm>
          <a:prstGeom prst="rect">
            <a:avLst/>
          </a:prstGeom>
          <a:noFill/>
        </p:spPr>
        <p:txBody>
          <a:bodyPr wrap="square">
            <a:spAutoFit/>
          </a:bodyPr>
          <a:lstStyle/>
          <a:p>
            <a:pPr algn="ctr"/>
            <a:r>
              <a:rPr sz="1200" i="1">
                <a:solidFill>
                  <a:srgbClr val="768692"/>
                </a:solidFill>
              </a:rPr>
              <a:t>LOSO experiment loop: fingerprint → cache check → train only on miss</a:t>
            </a:r>
          </a:p>
        </p:txBody>
      </p:sp>
    </p:spTree>
    <p:extLst>
      <p:ext uri="{BB962C8B-B14F-4D97-AF65-F5344CB8AC3E}">
        <p14:creationId xmlns:p14="http://schemas.microsoft.com/office/powerpoint/2010/main" val="133515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7F03-2D71-08ED-F2B3-F022A5A4D31E}"/>
              </a:ext>
            </a:extLst>
          </p:cNvPr>
          <p:cNvSpPr>
            <a:spLocks noGrp="1"/>
          </p:cNvSpPr>
          <p:nvPr>
            <p:ph type="title"/>
          </p:nvPr>
        </p:nvSpPr>
        <p:spPr/>
        <p:txBody>
          <a:bodyPr/>
          <a:lstStyle/>
          <a:p>
            <a:r>
              <a:t>Results — Speed &amp; Trust</a:t>
            </a:r>
          </a:p>
        </p:txBody>
      </p:sp>
      <p:sp>
        <p:nvSpPr>
          <p:cNvPr id="3" name="Content Placeholder 2">
            <a:extLst>
              <a:ext uri="{FF2B5EF4-FFF2-40B4-BE49-F238E27FC236}">
                <a16:creationId xmlns:a16="http://schemas.microsoft.com/office/drawing/2014/main" id="{24150405-712F-3E31-23E7-1E9F75DE7519}"/>
              </a:ext>
            </a:extLst>
          </p:cNvPr>
          <p:cNvSpPr>
            <a:spLocks noGrp="1"/>
          </p:cNvSpPr>
          <p:nvPr>
            <p:ph idx="1"/>
          </p:nvPr>
        </p:nvSpPr>
        <p:spPr>
          <a:xfrm>
            <a:off x="685800" y="1554480"/>
            <a:ext cx="4480560" cy="4389120"/>
          </a:xfrm>
        </p:spPr>
        <p:txBody>
          <a:bodyPr wrap="square"/>
          <a:lstStyle/>
          <a:p>
            <a:pPr marL="285750" indent="-285750">
              <a:spcBef>
                <a:spcPts val="800"/>
              </a:spcBef>
              <a:spcAft>
                <a:spcPts val="400"/>
              </a:spcAft>
              <a:buFont typeface="Arial" panose="020B0604020202020204" pitchFamily="34" charset="0"/>
              <a:buChar char="•"/>
            </a:pPr>
            <a:r>
              <a:rPr sz="1800" b="1">
                <a:solidFill>
                  <a:srgbClr val="FF9E1B"/>
                </a:solidFill>
              </a:rPr>
              <a:t>Speed</a:t>
            </a:r>
          </a:p>
          <a:p>
            <a:pPr lvl="1">
              <a:spcAft>
                <a:spcPts val="400"/>
              </a:spcAft>
            </a:pPr>
            <a:r>
              <a:rPr sz="1600" b="0"/>
              <a:t>XGBoost: median 54×, peak 202×</a:t>
            </a:r>
          </a:p>
          <a:p>
            <a:pPr lvl="1">
              <a:spcAft>
                <a:spcPts val="400"/>
              </a:spcAft>
            </a:pPr>
            <a:r>
              <a:rPr sz="1600" b="0"/>
              <a:t>3,816 s → 18.9 s</a:t>
            </a:r>
          </a:p>
          <a:p>
            <a:pPr lvl="1">
              <a:spcAft>
                <a:spcPts val="400"/>
              </a:spcAft>
            </a:pPr>
            <a:r>
              <a:rPr sz="1600" b="0"/>
              <a:t>Feature cache: 227×</a:t>
            </a:r>
          </a:p>
          <a:p>
            <a:pPr>
              <a:spcBef>
                <a:spcPts val="800"/>
              </a:spcBef>
              <a:spcAft>
                <a:spcPts val="400"/>
              </a:spcAft>
            </a:pPr>
            <a:r>
              <a:rPr sz="1800" b="1">
                <a:solidFill>
                  <a:srgbClr val="FF9E1B"/>
                </a:solidFill>
              </a:rPr>
              <a:t>Trust</a:t>
            </a:r>
          </a:p>
          <a:p>
            <a:pPr lvl="1">
              <a:spcAft>
                <a:spcPts val="400"/>
              </a:spcAft>
            </a:pPr>
            <a:r>
              <a:rPr sz="1600" b="0"/>
              <a:t>100% hit rate — 2,304 / 2,304</a:t>
            </a:r>
          </a:p>
          <a:p>
            <a:pPr lvl="1">
              <a:spcAft>
                <a:spcPts val="400"/>
              </a:spcAft>
            </a:pPr>
            <a:r>
              <a:rPr sz="1600" b="0"/>
              <a:t>100% identical predictions</a:t>
            </a:r>
          </a:p>
          <a:p>
            <a:pPr lvl="1">
              <a:spcAft>
                <a:spcPts val="400"/>
              </a:spcAft>
            </a:pPr>
            <a:r>
              <a:rPr sz="1600" b="0"/>
              <a:t>85.5% accuracy, κ = 0.74</a:t>
            </a:r>
          </a:p>
        </p:txBody>
      </p:sp>
      <p:sp>
        <p:nvSpPr>
          <p:cNvPr id="5" name="Slide Number Placeholder 4">
            <a:extLst>
              <a:ext uri="{FF2B5EF4-FFF2-40B4-BE49-F238E27FC236}">
                <a16:creationId xmlns:a16="http://schemas.microsoft.com/office/drawing/2014/main" id="{BE1CFA53-C57C-8648-E4F3-FFDFD2E753CE}"/>
              </a:ext>
            </a:extLst>
          </p:cNvPr>
          <p:cNvSpPr>
            <a:spLocks noGrp="1"/>
          </p:cNvSpPr>
          <p:nvPr>
            <p:ph type="sldNum" sz="quarter" idx="12"/>
          </p:nvPr>
        </p:nvSpPr>
        <p:spPr/>
        <p:txBody>
          <a:bodyPr/>
          <a:lstStyle/>
          <a:p>
            <a:fld id="{D836C0FE-70CA-4950-82D6-CF602CC2B770}" type="slidenum">
              <a:rPr lang="de-DE" smtClean="0"/>
              <a:t>7</a:t>
            </a:fld>
            <a:endParaRPr lang="de-DE" dirty="0"/>
          </a:p>
        </p:txBody>
      </p:sp>
      <p:sp>
        <p:nvSpPr>
          <p:cNvPr id="6" name="Footer Placeholder 5">
            <a:extLst>
              <a:ext uri="{FF2B5EF4-FFF2-40B4-BE49-F238E27FC236}">
                <a16:creationId xmlns:a16="http://schemas.microsoft.com/office/drawing/2014/main" id="{C588F12B-693B-5A89-72AC-C0F7E13A3981}"/>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5FAC6DDB-9D10-A61E-6D70-89CE941C4212}"/>
              </a:ext>
            </a:extLst>
          </p:cNvPr>
          <p:cNvSpPr>
            <a:spLocks noGrp="1"/>
          </p:cNvSpPr>
          <p:nvPr>
            <p:ph type="dt" sz="half" idx="10"/>
          </p:nvPr>
        </p:nvSpPr>
        <p:spPr/>
        <p:txBody>
          <a:bodyPr/>
          <a:lstStyle/>
          <a:p>
            <a:fld id="{15AEB612-F19D-41F6-8873-721850E62818}" type="datetime1">
              <a:rPr lang="en-US" smtClean="0"/>
              <a:t>6/9/2026</a:t>
            </a:fld>
            <a:endParaRPr lang="de-DE" dirty="0"/>
          </a:p>
        </p:txBody>
      </p:sp>
      <p:pic>
        <p:nvPicPr>
          <p:cNvPr id="8" name="Picture 7" descr="speedup.png"/>
          <p:cNvPicPr>
            <a:picLocks noChangeAspect="1"/>
          </p:cNvPicPr>
          <p:nvPr/>
        </p:nvPicPr>
        <p:blipFill>
          <a:blip r:embed="rId2"/>
          <a:stretch>
            <a:fillRect/>
          </a:stretch>
        </p:blipFill>
        <p:spPr>
          <a:xfrm>
            <a:off x="5349240" y="1640420"/>
            <a:ext cx="6217920" cy="3942918"/>
          </a:xfrm>
          <a:prstGeom prst="rect">
            <a:avLst/>
          </a:prstGeom>
        </p:spPr>
      </p:pic>
      <p:sp>
        <p:nvSpPr>
          <p:cNvPr id="9" name="TextBox 8"/>
          <p:cNvSpPr txBox="1"/>
          <p:nvPr/>
        </p:nvSpPr>
        <p:spPr>
          <a:xfrm>
            <a:off x="5349240" y="5669280"/>
            <a:ext cx="6217920" cy="365760"/>
          </a:xfrm>
          <a:prstGeom prst="rect">
            <a:avLst/>
          </a:prstGeom>
          <a:noFill/>
        </p:spPr>
        <p:txBody>
          <a:bodyPr wrap="square">
            <a:spAutoFit/>
          </a:bodyPr>
          <a:lstStyle/>
          <a:p>
            <a:pPr algn="ctr"/>
            <a:r>
              <a:rPr sz="1200" i="1">
                <a:solidFill>
                  <a:srgbClr val="768692"/>
                </a:solidFill>
              </a:rPr>
              <a:t>Cold vs. warm wall-clock per configuration (log scale)</a:t>
            </a:r>
          </a:p>
        </p:txBody>
      </p:sp>
    </p:spTree>
    <p:extLst>
      <p:ext uri="{BB962C8B-B14F-4D97-AF65-F5344CB8AC3E}">
        <p14:creationId xmlns:p14="http://schemas.microsoft.com/office/powerpoint/2010/main" val="2646793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EFA5-54B8-0A12-D3B3-2D96674E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7AE4A-F583-7934-D4E9-0E7CC1BFE14C}"/>
              </a:ext>
            </a:extLst>
          </p:cNvPr>
          <p:cNvSpPr>
            <a:spLocks noGrp="1"/>
          </p:cNvSpPr>
          <p:nvPr>
            <p:ph type="title"/>
          </p:nvPr>
        </p:nvSpPr>
        <p:spPr/>
        <p:txBody>
          <a:bodyPr/>
          <a:lstStyle/>
          <a:p>
            <a:r>
              <a:t>Results — Viability &amp; Scaling</a:t>
            </a:r>
          </a:p>
        </p:txBody>
      </p:sp>
      <p:sp>
        <p:nvSpPr>
          <p:cNvPr id="3" name="Content Placeholder 2">
            <a:extLst>
              <a:ext uri="{FF2B5EF4-FFF2-40B4-BE49-F238E27FC236}">
                <a16:creationId xmlns:a16="http://schemas.microsoft.com/office/drawing/2014/main" id="{FD56367A-69FA-5816-6125-287191BF2B47}"/>
              </a:ext>
            </a:extLst>
          </p:cNvPr>
          <p:cNvSpPr>
            <a:spLocks noGrp="1"/>
          </p:cNvSpPr>
          <p:nvPr>
            <p:ph idx="1"/>
          </p:nvPr>
        </p:nvSpPr>
        <p:spPr>
          <a:xfrm>
            <a:off x="685800" y="1554480"/>
            <a:ext cx="4480560" cy="4389120"/>
          </a:xfrm>
        </p:spPr>
        <p:txBody>
          <a:bodyPr wrap="square"/>
          <a:lstStyle/>
          <a:p>
            <a:pPr marL="285750" indent="-285750">
              <a:spcBef>
                <a:spcPts val="800"/>
              </a:spcBef>
              <a:spcAft>
                <a:spcPts val="400"/>
              </a:spcAft>
              <a:buFont typeface="Arial" panose="020B0604020202020204" pitchFamily="34" charset="0"/>
              <a:buChar char="•"/>
            </a:pPr>
            <a:r>
              <a:rPr sz="1800" b="1">
                <a:solidFill>
                  <a:srgbClr val="FF9E1B"/>
                </a:solidFill>
              </a:rPr>
              <a:t>Viability</a:t>
            </a:r>
          </a:p>
          <a:p>
            <a:pPr lvl="1">
              <a:spcAft>
                <a:spcPts val="400"/>
              </a:spcAft>
            </a:pPr>
            <a:r>
              <a:rPr sz="1600" b="0"/>
              <a:t>15 models: 11 viable, 4 not</a:t>
            </a:r>
          </a:p>
          <a:p>
            <a:pPr lvl="1">
              <a:spcAft>
                <a:spcPts val="400"/>
              </a:spcAft>
            </a:pPr>
            <a:r>
              <a:rPr sz="1600" b="0"/>
              <a:t>η (eta) = seconds saved / MB</a:t>
            </a:r>
          </a:p>
          <a:p>
            <a:pPr lvl="1">
              <a:spcAft>
                <a:spcPts val="400"/>
              </a:spcAft>
            </a:pPr>
            <a:r>
              <a:rPr sz="1600" b="0"/>
              <a:t>Threshold from empirical gap — not arbitrary</a:t>
            </a:r>
          </a:p>
          <a:p>
            <a:pPr lvl="1">
              <a:spcAft>
                <a:spcPts val="400"/>
              </a:spcAft>
            </a:pPr>
            <a:r>
              <a:rPr sz="1600" b="0"/>
              <a:t>Above the line → worth caching</a:t>
            </a:r>
          </a:p>
          <a:p>
            <a:pPr>
              <a:spcBef>
                <a:spcPts val="800"/>
              </a:spcBef>
              <a:spcAft>
                <a:spcPts val="400"/>
              </a:spcAft>
            </a:pPr>
            <a:r>
              <a:rPr sz="1800" b="1">
                <a:solidFill>
                  <a:srgbClr val="FF9E1B"/>
                </a:solidFill>
              </a:rPr>
              <a:t>Cost &amp; Scaling</a:t>
            </a:r>
          </a:p>
          <a:p>
            <a:pPr lvl="1">
              <a:spcAft>
                <a:spcPts val="400"/>
              </a:spcAft>
            </a:pPr>
            <a:r>
              <a:rPr sz="1600" b="0"/>
              <a:t>XGBoost 1.5 MB (viable)</a:t>
            </a:r>
          </a:p>
          <a:p>
            <a:pPr lvl="1">
              <a:spcAft>
                <a:spcPts val="400"/>
              </a:spcAft>
            </a:pPr>
            <a:r>
              <a:rPr sz="1600" b="0"/>
              <a:t>RF 18.5 GB (not viable)</a:t>
            </a:r>
          </a:p>
          <a:p>
            <a:pPr lvl="1">
              <a:spcAft>
                <a:spcPts val="400"/>
              </a:spcAft>
            </a:pPr>
            <a:r>
              <a:rPr sz="1600" b="0"/>
              <a:t>SVM-RBF: 9× → 201× with scale</a:t>
            </a:r>
          </a:p>
        </p:txBody>
      </p:sp>
      <p:sp>
        <p:nvSpPr>
          <p:cNvPr id="5" name="Slide Number Placeholder 4">
            <a:extLst>
              <a:ext uri="{FF2B5EF4-FFF2-40B4-BE49-F238E27FC236}">
                <a16:creationId xmlns:a16="http://schemas.microsoft.com/office/drawing/2014/main" id="{9C3C9F2B-128F-C481-8FFE-273FF73AD750}"/>
              </a:ext>
            </a:extLst>
          </p:cNvPr>
          <p:cNvSpPr>
            <a:spLocks noGrp="1"/>
          </p:cNvSpPr>
          <p:nvPr>
            <p:ph type="sldNum" sz="quarter" idx="12"/>
          </p:nvPr>
        </p:nvSpPr>
        <p:spPr/>
        <p:txBody>
          <a:bodyPr/>
          <a:lstStyle/>
          <a:p>
            <a:fld id="{D836C0FE-70CA-4950-82D6-CF602CC2B770}" type="slidenum">
              <a:rPr lang="de-DE" smtClean="0"/>
              <a:t>8</a:t>
            </a:fld>
            <a:endParaRPr lang="de-DE" dirty="0"/>
          </a:p>
        </p:txBody>
      </p:sp>
      <p:sp>
        <p:nvSpPr>
          <p:cNvPr id="6" name="Footer Placeholder 5">
            <a:extLst>
              <a:ext uri="{FF2B5EF4-FFF2-40B4-BE49-F238E27FC236}">
                <a16:creationId xmlns:a16="http://schemas.microsoft.com/office/drawing/2014/main" id="{74466476-6469-9579-B2D2-D9426441C178}"/>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63342A63-9220-7FB2-C5DF-19D5771B0B70}"/>
              </a:ext>
            </a:extLst>
          </p:cNvPr>
          <p:cNvSpPr>
            <a:spLocks noGrp="1"/>
          </p:cNvSpPr>
          <p:nvPr>
            <p:ph type="dt" sz="half" idx="10"/>
          </p:nvPr>
        </p:nvSpPr>
        <p:spPr/>
        <p:txBody>
          <a:bodyPr/>
          <a:lstStyle/>
          <a:p>
            <a:fld id="{15AEB612-F19D-41F6-8873-721850E62818}" type="datetime1">
              <a:rPr lang="en-US" smtClean="0"/>
              <a:t>6/9/2026</a:t>
            </a:fld>
            <a:endParaRPr lang="de-DE" dirty="0"/>
          </a:p>
        </p:txBody>
      </p:sp>
      <p:pic>
        <p:nvPicPr>
          <p:cNvPr id="8" name="Picture 7" descr="efficiency.png"/>
          <p:cNvPicPr>
            <a:picLocks noChangeAspect="1"/>
          </p:cNvPicPr>
          <p:nvPr/>
        </p:nvPicPr>
        <p:blipFill>
          <a:blip r:embed="rId2"/>
          <a:stretch>
            <a:fillRect/>
          </a:stretch>
        </p:blipFill>
        <p:spPr>
          <a:xfrm>
            <a:off x="5349240" y="1779872"/>
            <a:ext cx="6217920" cy="3664014"/>
          </a:xfrm>
          <a:prstGeom prst="rect">
            <a:avLst/>
          </a:prstGeom>
        </p:spPr>
      </p:pic>
      <p:sp>
        <p:nvSpPr>
          <p:cNvPr id="9" name="TextBox 8"/>
          <p:cNvSpPr txBox="1"/>
          <p:nvPr/>
        </p:nvSpPr>
        <p:spPr>
          <a:xfrm>
            <a:off x="5349240" y="5669280"/>
            <a:ext cx="6217920" cy="365760"/>
          </a:xfrm>
          <a:prstGeom prst="rect">
            <a:avLst/>
          </a:prstGeom>
          <a:noFill/>
        </p:spPr>
        <p:txBody>
          <a:bodyPr wrap="square">
            <a:spAutoFit/>
          </a:bodyPr>
          <a:lstStyle/>
          <a:p>
            <a:pPr algn="ctr"/>
            <a:r>
              <a:rPr sz="1200" i="1">
                <a:solidFill>
                  <a:srgbClr val="768692"/>
                </a:solidFill>
              </a:rPr>
              <a:t>Compute saved vs. storage cost; dashed line = viability boundary</a:t>
            </a:r>
          </a:p>
        </p:txBody>
      </p:sp>
    </p:spTree>
    <p:extLst>
      <p:ext uri="{BB962C8B-B14F-4D97-AF65-F5344CB8AC3E}">
        <p14:creationId xmlns:p14="http://schemas.microsoft.com/office/powerpoint/2010/main" val="234218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4339-F216-B283-07CD-A48C828A7AF4}"/>
              </a:ext>
            </a:extLst>
          </p:cNvPr>
          <p:cNvSpPr>
            <a:spLocks noGrp="1"/>
          </p:cNvSpPr>
          <p:nvPr>
            <p:ph type="title"/>
          </p:nvPr>
        </p:nvSpPr>
        <p:spPr/>
        <p:txBody>
          <a:bodyPr/>
          <a:lstStyle/>
          <a:p>
            <a:r>
              <a:rPr lang="de-DE" dirty="0" err="1"/>
              <a:t>Conclusion</a:t>
            </a:r>
            <a:endParaRPr lang="en-US" dirty="0"/>
          </a:p>
        </p:txBody>
      </p:sp>
      <p:sp>
        <p:nvSpPr>
          <p:cNvPr id="3" name="Content Placeholder 2">
            <a:extLst>
              <a:ext uri="{FF2B5EF4-FFF2-40B4-BE49-F238E27FC236}">
                <a16:creationId xmlns:a16="http://schemas.microsoft.com/office/drawing/2014/main" id="{0248E10D-607E-7F45-03CA-D493263312D4}"/>
              </a:ext>
            </a:extLst>
          </p:cNvPr>
          <p:cNvSpPr>
            <a:spLocks noGrp="1"/>
          </p:cNvSpPr>
          <p:nvPr>
            <p:ph idx="1"/>
          </p:nvPr>
        </p:nvSpPr>
        <p:spPr/>
        <p:txBody>
          <a:bodyPr wrap="square"/>
          <a:lstStyle/>
          <a:p>
            <a:pPr marL="285750" indent="-285750">
              <a:spcBef>
                <a:spcPts val="800"/>
              </a:spcBef>
              <a:spcAft>
                <a:spcPts val="400"/>
              </a:spcAft>
              <a:buFont typeface="Arial" panose="020B0604020202020204" pitchFamily="34" charset="0"/>
              <a:buChar char="•"/>
            </a:pPr>
            <a:r>
              <a:rPr sz="1700" b="1">
                <a:solidFill>
                  <a:srgbClr val="FF9E1B"/>
                </a:solidFill>
              </a:rPr>
              <a:t>Contributions</a:t>
            </a:r>
            <a:endParaRPr lang="de-DE" dirty="0"/>
          </a:p>
          <a:p>
            <a:pPr lvl="1">
              <a:spcAft>
                <a:spcPts val="400"/>
              </a:spcAft>
            </a:pPr>
            <a:r>
              <a:rPr sz="1500" b="0"/>
              <a:t>Fold-aware fingerprint → no contamination</a:t>
            </a:r>
          </a:p>
          <a:p>
            <a:pPr lvl="1">
              <a:spcAft>
                <a:spcPts val="400"/>
              </a:spcAft>
            </a:pPr>
            <a:r>
              <a:rPr sz="1500" b="0"/>
              <a:t>Order-of-magnitude speedup, reproducible</a:t>
            </a:r>
          </a:p>
          <a:p>
            <a:pPr lvl="1">
              <a:spcAft>
                <a:spcPts val="400"/>
              </a:spcAft>
            </a:pPr>
            <a:r>
              <a:rPr sz="1500" b="0"/>
              <a:t>Every fold's model preserved → inspect post-hoc</a:t>
            </a:r>
          </a:p>
          <a:p>
            <a:pPr lvl="1">
              <a:spcAft>
                <a:spcPts val="400"/>
              </a:spcAft>
            </a:pPr>
            <a:r>
              <a:rPr sz="1500" b="0"/>
              <a:t>Outlier flagged → pull model, inspect feature weights</a:t>
            </a:r>
          </a:p>
          <a:p>
            <a:pPr>
              <a:spcBef>
                <a:spcPts val="800"/>
              </a:spcBef>
              <a:spcAft>
                <a:spcPts val="400"/>
              </a:spcAft>
            </a:pPr>
            <a:r>
              <a:rPr sz="1700" b="1">
                <a:solidFill>
                  <a:srgbClr val="FF9E1B"/>
                </a:solidFill>
              </a:rPr>
              <a:t>Research Questions — Answered</a:t>
            </a:r>
          </a:p>
          <a:p>
            <a:pPr lvl="1">
              <a:spcAft>
                <a:spcPts val="400"/>
              </a:spcAft>
            </a:pPr>
            <a:r>
              <a:rPr sz="1500" b="0"/>
              <a:t>RQ1 ✓  median 54×, 100% hit rate, 2,304/2,304</a:t>
            </a:r>
          </a:p>
          <a:p>
            <a:pPr lvl="1">
              <a:spcAft>
                <a:spcPts val="400"/>
              </a:spcAft>
            </a:pPr>
            <a:r>
              <a:rPr sz="1500" b="0"/>
              <a:t>RQ2 ✓  100% bitwise-identical, zero collisions</a:t>
            </a:r>
          </a:p>
          <a:p>
            <a:pPr lvl="1">
              <a:spcAft>
                <a:spcPts val="400"/>
              </a:spcAft>
            </a:pPr>
            <a:r>
              <a:rPr sz="1500" b="0"/>
              <a:t>RQ3 ✓  speedup grows: SVM 9× → 201×</a:t>
            </a:r>
          </a:p>
          <a:p>
            <a:pPr lvl="1">
              <a:spcAft>
                <a:spcPts val="400"/>
              </a:spcAft>
            </a:pPr>
            <a:r>
              <a:rPr sz="1500" b="0"/>
              <a:t>RQ4 ✓  11/15 viable; η separates clusters by ~3 orders</a:t>
            </a:r>
          </a:p>
        </p:txBody>
      </p:sp>
      <p:sp>
        <p:nvSpPr>
          <p:cNvPr id="5" name="Slide Number Placeholder 4">
            <a:extLst>
              <a:ext uri="{FF2B5EF4-FFF2-40B4-BE49-F238E27FC236}">
                <a16:creationId xmlns:a16="http://schemas.microsoft.com/office/drawing/2014/main" id="{EC013FC8-FD04-ACDB-EE34-F1E32EBDD4EB}"/>
              </a:ext>
            </a:extLst>
          </p:cNvPr>
          <p:cNvSpPr>
            <a:spLocks noGrp="1"/>
          </p:cNvSpPr>
          <p:nvPr>
            <p:ph type="sldNum" sz="quarter" idx="12"/>
          </p:nvPr>
        </p:nvSpPr>
        <p:spPr/>
        <p:txBody>
          <a:bodyPr/>
          <a:lstStyle/>
          <a:p>
            <a:fld id="{D836C0FE-70CA-4950-82D6-CF602CC2B770}" type="slidenum">
              <a:rPr lang="de-DE" smtClean="0"/>
              <a:t>9</a:t>
            </a:fld>
            <a:endParaRPr lang="de-DE" dirty="0"/>
          </a:p>
        </p:txBody>
      </p:sp>
      <p:sp>
        <p:nvSpPr>
          <p:cNvPr id="6" name="Footer Placeholder 5">
            <a:extLst>
              <a:ext uri="{FF2B5EF4-FFF2-40B4-BE49-F238E27FC236}">
                <a16:creationId xmlns:a16="http://schemas.microsoft.com/office/drawing/2014/main" id="{CDF247FA-E638-48DF-60EB-5D23E3C1B625}"/>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AE55ED0A-D6F3-B76B-386F-3F7D9D22D2D5}"/>
              </a:ext>
            </a:extLst>
          </p:cNvPr>
          <p:cNvSpPr>
            <a:spLocks noGrp="1"/>
          </p:cNvSpPr>
          <p:nvPr>
            <p:ph type="dt" sz="half" idx="10"/>
          </p:nvPr>
        </p:nvSpPr>
        <p:spPr/>
        <p:txBody>
          <a:bodyPr/>
          <a:lstStyle/>
          <a:p>
            <a:fld id="{4900ED49-DBEC-42B2-A219-5281160C4AC7}" type="datetime1">
              <a:rPr lang="en-US" smtClean="0"/>
              <a:t>6/9/2026</a:t>
            </a:fld>
            <a:endParaRPr lang="de-DE" dirty="0"/>
          </a:p>
        </p:txBody>
      </p:sp>
    </p:spTree>
    <p:extLst>
      <p:ext uri="{BB962C8B-B14F-4D97-AF65-F5344CB8AC3E}">
        <p14:creationId xmlns:p14="http://schemas.microsoft.com/office/powerpoint/2010/main" val="3167271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E5D94F-8829-7A55-4592-BFB67D3692AA}"/>
              </a:ext>
            </a:extLst>
          </p:cNvPr>
          <p:cNvSpPr>
            <a:spLocks noGrp="1"/>
          </p:cNvSpPr>
          <p:nvPr>
            <p:ph type="sldNum" sz="quarter" idx="12"/>
          </p:nvPr>
        </p:nvSpPr>
        <p:spPr/>
        <p:txBody>
          <a:bodyPr/>
          <a:lstStyle/>
          <a:p>
            <a:fld id="{D836C0FE-70CA-4950-82D6-CF602CC2B770}" type="slidenum">
              <a:rPr lang="de-DE" smtClean="0"/>
              <a:t>10</a:t>
            </a:fld>
            <a:endParaRPr lang="de-DE" dirty="0"/>
          </a:p>
        </p:txBody>
      </p:sp>
      <p:sp>
        <p:nvSpPr>
          <p:cNvPr id="3" name="Title 2">
            <a:extLst>
              <a:ext uri="{FF2B5EF4-FFF2-40B4-BE49-F238E27FC236}">
                <a16:creationId xmlns:a16="http://schemas.microsoft.com/office/drawing/2014/main" id="{7DE246DE-663B-36A1-51AA-202A0F892787}"/>
              </a:ext>
            </a:extLst>
          </p:cNvPr>
          <p:cNvSpPr>
            <a:spLocks noGrp="1"/>
          </p:cNvSpPr>
          <p:nvPr>
            <p:ph type="title"/>
          </p:nvPr>
        </p:nvSpPr>
        <p:spPr>
          <a:xfrm>
            <a:off x="2927648" y="2057106"/>
            <a:ext cx="4896544" cy="792000"/>
          </a:xfrm>
        </p:spPr>
        <p:txBody>
          <a:bodyPr/>
          <a:lstStyle/>
          <a:p>
            <a:r>
              <a:rPr lang="en-US" sz="4000" dirty="0"/>
              <a:t>THANK YOU</a:t>
            </a:r>
          </a:p>
        </p:txBody>
      </p:sp>
      <p:sp>
        <p:nvSpPr>
          <p:cNvPr id="4" name="Content Placeholder 3">
            <a:extLst>
              <a:ext uri="{FF2B5EF4-FFF2-40B4-BE49-F238E27FC236}">
                <a16:creationId xmlns:a16="http://schemas.microsoft.com/office/drawing/2014/main" id="{29754CC9-96EB-54E7-58E6-1346DA1048BF}"/>
              </a:ext>
            </a:extLst>
          </p:cNvPr>
          <p:cNvSpPr>
            <a:spLocks noGrp="1"/>
          </p:cNvSpPr>
          <p:nvPr>
            <p:ph idx="1"/>
          </p:nvPr>
        </p:nvSpPr>
        <p:spPr>
          <a:xfrm>
            <a:off x="3071664" y="3501008"/>
            <a:ext cx="3096344" cy="648221"/>
          </a:xfrm>
        </p:spPr>
        <p:txBody>
          <a:bodyPr/>
          <a:lstStyle/>
          <a:p>
            <a:r>
              <a:rPr lang="de-DE" sz="2800" dirty="0"/>
              <a:t>Any Questions? </a:t>
            </a:r>
            <a:endParaRPr lang="en-US" sz="2800" dirty="0"/>
          </a:p>
        </p:txBody>
      </p:sp>
      <p:sp>
        <p:nvSpPr>
          <p:cNvPr id="5" name="Date Placeholder 4">
            <a:extLst>
              <a:ext uri="{FF2B5EF4-FFF2-40B4-BE49-F238E27FC236}">
                <a16:creationId xmlns:a16="http://schemas.microsoft.com/office/drawing/2014/main" id="{202BF403-B219-9B49-5651-A6CDCA80A35E}"/>
              </a:ext>
            </a:extLst>
          </p:cNvPr>
          <p:cNvSpPr>
            <a:spLocks noGrp="1"/>
          </p:cNvSpPr>
          <p:nvPr>
            <p:ph type="dt" sz="half" idx="10"/>
          </p:nvPr>
        </p:nvSpPr>
        <p:spPr/>
        <p:txBody>
          <a:bodyPr/>
          <a:lstStyle/>
          <a:p>
            <a:fld id="{2A09CE31-9316-4BF9-8DA9-E4F37514F421}" type="datetime1">
              <a:rPr lang="en-US" smtClean="0"/>
              <a:t>6/9/2026</a:t>
            </a:fld>
            <a:endParaRPr lang="de-DE" dirty="0"/>
          </a:p>
        </p:txBody>
      </p:sp>
      <p:sp>
        <p:nvSpPr>
          <p:cNvPr id="6" name="Footer Placeholder 5">
            <a:extLst>
              <a:ext uri="{FF2B5EF4-FFF2-40B4-BE49-F238E27FC236}">
                <a16:creationId xmlns:a16="http://schemas.microsoft.com/office/drawing/2014/main" id="{DCB9EF05-E53E-25F7-2C46-1336F97BCFC9}"/>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Tree>
    <p:extLst>
      <p:ext uri="{BB962C8B-B14F-4D97-AF65-F5344CB8AC3E}">
        <p14:creationId xmlns:p14="http://schemas.microsoft.com/office/powerpoint/2010/main" val="351370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C963-B7F8-E2A6-222C-CB10A5C9C33D}"/>
              </a:ext>
            </a:extLst>
          </p:cNvPr>
          <p:cNvSpPr>
            <a:spLocks noGrp="1"/>
          </p:cNvSpPr>
          <p:nvPr>
            <p:ph type="title"/>
          </p:nvPr>
        </p:nvSpPr>
        <p:spPr/>
        <p:txBody>
          <a:bodyPr/>
          <a:lstStyle/>
          <a:p>
            <a:r>
              <a:t>Backup — Material</a:t>
            </a:r>
          </a:p>
        </p:txBody>
      </p:sp>
      <p:sp>
        <p:nvSpPr>
          <p:cNvPr id="3" name="Content Placeholder 2">
            <a:extLst>
              <a:ext uri="{FF2B5EF4-FFF2-40B4-BE49-F238E27FC236}">
                <a16:creationId xmlns:a16="http://schemas.microsoft.com/office/drawing/2014/main" id="{FEA872F5-BDC3-25C4-7837-1AE29FBB9063}"/>
              </a:ext>
            </a:extLst>
          </p:cNvPr>
          <p:cNvSpPr>
            <a:spLocks noGrp="1"/>
          </p:cNvSpPr>
          <p:nvPr>
            <p:ph idx="1"/>
          </p:nvPr>
        </p:nvSpPr>
        <p:spPr/>
        <p:txBody>
          <a:bodyPr wrap="square"/>
          <a:lstStyle/>
          <a:p>
            <a:pPr marL="285750" indent="-285750">
              <a:spcBef>
                <a:spcPts val="800"/>
              </a:spcBef>
              <a:spcAft>
                <a:spcPts val="400"/>
              </a:spcAft>
              <a:buFont typeface="Arial" panose="020B0604020202020204" pitchFamily="34" charset="0"/>
              <a:buChar char="•"/>
            </a:pPr>
            <a:r>
              <a:rPr sz="2000" b="1">
                <a:solidFill>
                  <a:srgbClr val="FF9E1B"/>
                </a:solidFill>
              </a:rPr>
              <a:t>The following slides support likely questions</a:t>
            </a:r>
          </a:p>
          <a:p>
            <a:pPr lvl="1">
              <a:spcAft>
                <a:spcPts val="400"/>
              </a:spcAft>
            </a:pPr>
            <a:r>
              <a:rPr sz="1800" b="0"/>
              <a:t>B1 — Full 9-config cache results (XGB + RF)</a:t>
            </a:r>
          </a:p>
          <a:p>
            <a:pPr lvl="1">
              <a:spcAft>
                <a:spcPts val="400"/>
              </a:spcAft>
            </a:pPr>
            <a:r>
              <a:rPr sz="1800" b="0"/>
              <a:t>B2 — η ranking, all 15 models</a:t>
            </a:r>
          </a:p>
          <a:p>
            <a:pPr lvl="1">
              <a:spcAft>
                <a:spcPts val="400"/>
              </a:spcAft>
            </a:pPr>
            <a:r>
              <a:rPr sz="1800" b="0"/>
              <a:t>B3 — Confusion matrix (N1 weakness)</a:t>
            </a:r>
          </a:p>
          <a:p>
            <a:pPr lvl="1">
              <a:spcAft>
                <a:spcPts val="400"/>
              </a:spcAft>
            </a:pPr>
            <a:r>
              <a:rPr sz="1800" b="0"/>
              <a:t>B4 — Global vs. per-fold selection (leakage)</a:t>
            </a:r>
          </a:p>
        </p:txBody>
      </p:sp>
      <p:sp>
        <p:nvSpPr>
          <p:cNvPr id="5" name="Slide Number Placeholder 4">
            <a:extLst>
              <a:ext uri="{FF2B5EF4-FFF2-40B4-BE49-F238E27FC236}">
                <a16:creationId xmlns:a16="http://schemas.microsoft.com/office/drawing/2014/main" id="{086F2067-747A-CF89-32B4-CDB85D6E6380}"/>
              </a:ext>
            </a:extLst>
          </p:cNvPr>
          <p:cNvSpPr>
            <a:spLocks noGrp="1"/>
          </p:cNvSpPr>
          <p:nvPr>
            <p:ph type="sldNum" sz="quarter" idx="12"/>
          </p:nvPr>
        </p:nvSpPr>
        <p:spPr/>
        <p:txBody>
          <a:bodyPr/>
          <a:lstStyle/>
          <a:p>
            <a:fld id="{D836C0FE-70CA-4950-82D6-CF602CC2B770}" type="slidenum">
              <a:rPr lang="de-DE" smtClean="0"/>
              <a:t>11</a:t>
            </a:fld>
            <a:endParaRPr lang="de-DE" dirty="0"/>
          </a:p>
        </p:txBody>
      </p:sp>
      <p:sp>
        <p:nvSpPr>
          <p:cNvPr id="6" name="Footer Placeholder 5">
            <a:extLst>
              <a:ext uri="{FF2B5EF4-FFF2-40B4-BE49-F238E27FC236}">
                <a16:creationId xmlns:a16="http://schemas.microsoft.com/office/drawing/2014/main" id="{F5EB9FFD-FD4B-F1E1-DF91-340B30F3F117}"/>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DF21DD3F-5C2C-BE83-7793-836D5098B780}"/>
              </a:ext>
            </a:extLst>
          </p:cNvPr>
          <p:cNvSpPr>
            <a:spLocks noGrp="1"/>
          </p:cNvSpPr>
          <p:nvPr>
            <p:ph type="dt" sz="half" idx="10"/>
          </p:nvPr>
        </p:nvSpPr>
        <p:spPr/>
        <p:txBody>
          <a:bodyPr/>
          <a:lstStyle/>
          <a:p>
            <a:fld id="{310F5A52-0074-4F38-8685-91157C589AF1}" type="datetime1">
              <a:rPr lang="en-US" smtClean="0"/>
              <a:t>6/9/2026</a:t>
            </a:fld>
            <a:endParaRPr lang="de-DE" dirty="0"/>
          </a:p>
        </p:txBody>
      </p:sp>
    </p:spTree>
    <p:extLst>
      <p:ext uri="{BB962C8B-B14F-4D97-AF65-F5344CB8AC3E}">
        <p14:creationId xmlns:p14="http://schemas.microsoft.com/office/powerpoint/2010/main" val="271929613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Full Cache Results (128-fold LOSO)</a:t>
            </a:r>
          </a:p>
        </p:txBody>
      </p:sp>
      <p:sp>
        <p:nvSpPr>
          <p:cNvPr id="3" name="TextBox 2"/>
          <p:cNvSpPr txBox="1"/>
          <p:nvPr/>
        </p:nvSpPr>
        <p:spPr>
          <a:xfrm>
            <a:off x="822960" y="1371600"/>
            <a:ext cx="10515600" cy="274320"/>
          </a:xfrm>
          <a:prstGeom prst="rect">
            <a:avLst/>
          </a:prstGeom>
          <a:noFill/>
        </p:spPr>
        <p:txBody>
          <a:bodyPr wrap="none">
            <a:spAutoFit/>
          </a:bodyPr>
          <a:lstStyle/>
          <a:p>
            <a:r>
              <a:rPr sz="1400" b="1">
                <a:solidFill>
                  <a:srgbClr val="FF9E1B"/>
                </a:solidFill>
              </a:rPr>
              <a:t>XGBoost — median 54×, ~185 MB  (best: 202×, 3816 s → 18.9 s)</a:t>
            </a:r>
          </a:p>
        </p:txBody>
      </p:sp>
      <p:graphicFrame>
        <p:nvGraphicFramePr>
          <p:cNvPr id="4" name="Table 3"/>
          <p:cNvGraphicFramePr>
            <a:graphicFrameLocks noGrp="1"/>
          </p:cNvGraphicFramePr>
          <p:nvPr/>
        </p:nvGraphicFramePr>
        <p:xfrm>
          <a:off x="822960" y="1664208"/>
          <a:ext cx="10515600" cy="2057400"/>
        </p:xfrm>
        <a:graphic>
          <a:graphicData uri="http://schemas.openxmlformats.org/drawingml/2006/table">
            <a:tbl>
              <a:tblPr firstRow="1" bandRow="1">
                <a:tableStyleId>{5C22544A-7EE6-4342-B048-85BDC9FD1C3A}</a:tableStyleId>
              </a:tblPr>
              <a:tblGrid>
                <a:gridCol w="3383280"/>
                <a:gridCol w="1783080"/>
                <a:gridCol w="1783080"/>
                <a:gridCol w="1783080"/>
                <a:gridCol w="1783080"/>
              </a:tblGrid>
              <a:tr h="205740">
                <a:tc>
                  <a:txBody>
                    <a:bodyPr wrap="square"/>
                    <a:lstStyle/>
                    <a:p>
                      <a:r>
                        <a:rPr sz="1000" b="1">
                          <a:solidFill>
                            <a:srgbClr val="FFFFFF"/>
                          </a:solidFill>
                          <a:latin typeface="Arial"/>
                        </a:rPr>
                        <a:t>Config</a:t>
                      </a:r>
                    </a:p>
                  </a:txBody>
                  <a:tcPr anchor="ctr" marT="12700" marB="12700" marL="63500" marR="63500">
                    <a:solidFill>
                      <a:srgbClr val="FF9E1B"/>
                    </a:solidFill>
                  </a:tcPr>
                </a:tc>
                <a:tc>
                  <a:txBody>
                    <a:bodyPr wrap="square"/>
                    <a:lstStyle/>
                    <a:p>
                      <a:r>
                        <a:rPr sz="1000" b="1">
                          <a:solidFill>
                            <a:srgbClr val="FFFFFF"/>
                          </a:solidFill>
                          <a:latin typeface="Arial"/>
                        </a:rPr>
                        <a:t>Cold (s)</a:t>
                      </a:r>
                    </a:p>
                  </a:txBody>
                  <a:tcPr anchor="ctr" marT="12700" marB="12700" marL="63500" marR="63500">
                    <a:solidFill>
                      <a:srgbClr val="FF9E1B"/>
                    </a:solidFill>
                  </a:tcPr>
                </a:tc>
                <a:tc>
                  <a:txBody>
                    <a:bodyPr wrap="square"/>
                    <a:lstStyle/>
                    <a:p>
                      <a:r>
                        <a:rPr sz="1000" b="1">
                          <a:solidFill>
                            <a:srgbClr val="FFFFFF"/>
                          </a:solidFill>
                          <a:latin typeface="Arial"/>
                        </a:rPr>
                        <a:t>Warm (s)</a:t>
                      </a:r>
                    </a:p>
                  </a:txBody>
                  <a:tcPr anchor="ctr" marT="12700" marB="12700" marL="63500" marR="63500">
                    <a:solidFill>
                      <a:srgbClr val="FF9E1B"/>
                    </a:solidFill>
                  </a:tcPr>
                </a:tc>
                <a:tc>
                  <a:txBody>
                    <a:bodyPr wrap="square"/>
                    <a:lstStyle/>
                    <a:p>
                      <a:r>
                        <a:rPr sz="1000" b="1">
                          <a:solidFill>
                            <a:srgbClr val="FFFFFF"/>
                          </a:solidFill>
                          <a:latin typeface="Arial"/>
                        </a:rPr>
                        <a:t>Speedup</a:t>
                      </a:r>
                    </a:p>
                  </a:txBody>
                  <a:tcPr anchor="ctr" marT="12700" marB="12700" marL="63500" marR="63500">
                    <a:solidFill>
                      <a:srgbClr val="FF9E1B"/>
                    </a:solidFill>
                  </a:tcPr>
                </a:tc>
                <a:tc>
                  <a:txBody>
                    <a:bodyPr wrap="square"/>
                    <a:lstStyle/>
                    <a:p>
                      <a:r>
                        <a:rPr sz="1000" b="1">
                          <a:solidFill>
                            <a:srgbClr val="FFFFFF"/>
                          </a:solidFill>
                          <a:latin typeface="Arial"/>
                        </a:rPr>
                        <a:t>Cache</a:t>
                      </a:r>
                    </a:p>
                  </a:txBody>
                  <a:tcPr anchor="ctr" marT="12700" marB="12700" marL="63500" marR="63500">
                    <a:solidFill>
                      <a:srgbClr val="FF9E1B"/>
                    </a:solidFill>
                  </a:tcPr>
                </a:tc>
              </a:tr>
              <a:tr h="205740">
                <a:tc>
                  <a:txBody>
                    <a:bodyPr wrap="square"/>
                    <a:lstStyle/>
                    <a:p>
                      <a:r>
                        <a:rPr sz="1000">
                          <a:solidFill>
                            <a:srgbClr val="262B2F"/>
                          </a:solidFill>
                          <a:latin typeface="Arial"/>
                        </a:rPr>
                        <a:t>corr=0.75, k=30</a:t>
                      </a:r>
                    </a:p>
                  </a:txBody>
                  <a:tcPr anchor="ctr" marT="12700" marB="12700" marL="63500" marR="63500">
                    <a:solidFill>
                      <a:srgbClr val="FFFFFF"/>
                    </a:solidFill>
                  </a:tcPr>
                </a:tc>
                <a:tc>
                  <a:txBody>
                    <a:bodyPr wrap="square"/>
                    <a:lstStyle/>
                    <a:p>
                      <a:r>
                        <a:rPr sz="1000">
                          <a:solidFill>
                            <a:srgbClr val="262B2F"/>
                          </a:solidFill>
                          <a:latin typeface="Arial"/>
                        </a:rPr>
                        <a:t>1053.4</a:t>
                      </a:r>
                    </a:p>
                  </a:txBody>
                  <a:tcPr anchor="ctr" marT="12700" marB="12700" marL="63500" marR="63500">
                    <a:solidFill>
                      <a:srgbClr val="FFFFFF"/>
                    </a:solidFill>
                  </a:tcPr>
                </a:tc>
                <a:tc>
                  <a:txBody>
                    <a:bodyPr wrap="square"/>
                    <a:lstStyle/>
                    <a:p>
                      <a:r>
                        <a:rPr sz="1000">
                          <a:solidFill>
                            <a:srgbClr val="262B2F"/>
                          </a:solidFill>
                          <a:latin typeface="Arial"/>
                        </a:rPr>
                        <a:t>26.4</a:t>
                      </a:r>
                    </a:p>
                  </a:txBody>
                  <a:tcPr anchor="ctr" marT="12700" marB="12700" marL="63500" marR="63500">
                    <a:solidFill>
                      <a:srgbClr val="FFFFFF"/>
                    </a:solidFill>
                  </a:tcPr>
                </a:tc>
                <a:tc>
                  <a:txBody>
                    <a:bodyPr wrap="square"/>
                    <a:lstStyle/>
                    <a:p>
                      <a:r>
                        <a:rPr sz="1000">
                          <a:solidFill>
                            <a:srgbClr val="262B2F"/>
                          </a:solidFill>
                          <a:latin typeface="Arial"/>
                        </a:rPr>
                        <a:t>39.9×</a:t>
                      </a:r>
                    </a:p>
                  </a:txBody>
                  <a:tcPr anchor="ctr" marT="12700" marB="12700" marL="63500" marR="63500">
                    <a:solidFill>
                      <a:srgbClr val="FFFFFF"/>
                    </a:solidFill>
                  </a:tcPr>
                </a:tc>
                <a:tc>
                  <a:txBody>
                    <a:bodyPr wrap="square"/>
                    <a:lstStyle/>
                    <a:p>
                      <a:r>
                        <a:rPr sz="1000">
                          <a:solidFill>
                            <a:srgbClr val="262B2F"/>
                          </a:solidFill>
                          <a:latin typeface="Arial"/>
                        </a:rPr>
                        <a:t>186 MB</a:t>
                      </a:r>
                    </a:p>
                  </a:txBody>
                  <a:tcPr anchor="ctr" marT="12700" marB="12700" marL="63500" marR="63500">
                    <a:solidFill>
                      <a:srgbClr val="FFFFFF"/>
                    </a:solidFill>
                  </a:tcPr>
                </a:tc>
              </a:tr>
              <a:tr h="205740">
                <a:tc>
                  <a:txBody>
                    <a:bodyPr wrap="square"/>
                    <a:lstStyle/>
                    <a:p>
                      <a:r>
                        <a:rPr sz="1000">
                          <a:solidFill>
                            <a:srgbClr val="262B2F"/>
                          </a:solidFill>
                          <a:latin typeface="Arial"/>
                        </a:rPr>
                        <a:t>corr=0.75, k=50</a:t>
                      </a:r>
                    </a:p>
                  </a:txBody>
                  <a:tcPr anchor="ctr" marT="12700" marB="12700" marL="63500" marR="63500">
                    <a:solidFill>
                      <a:srgbClr val="FFFFFF"/>
                    </a:solidFill>
                  </a:tcPr>
                </a:tc>
                <a:tc>
                  <a:txBody>
                    <a:bodyPr wrap="square"/>
                    <a:lstStyle/>
                    <a:p>
                      <a:r>
                        <a:rPr sz="1000">
                          <a:solidFill>
                            <a:srgbClr val="262B2F"/>
                          </a:solidFill>
                          <a:latin typeface="Arial"/>
                        </a:rPr>
                        <a:t>1447.4</a:t>
                      </a:r>
                    </a:p>
                  </a:txBody>
                  <a:tcPr anchor="ctr" marT="12700" marB="12700" marL="63500" marR="63500">
                    <a:solidFill>
                      <a:srgbClr val="FFFFFF"/>
                    </a:solidFill>
                  </a:tcPr>
                </a:tc>
                <a:tc>
                  <a:txBody>
                    <a:bodyPr wrap="square"/>
                    <a:lstStyle/>
                    <a:p>
                      <a:r>
                        <a:rPr sz="1000">
                          <a:solidFill>
                            <a:srgbClr val="262B2F"/>
                          </a:solidFill>
                          <a:latin typeface="Arial"/>
                        </a:rPr>
                        <a:t>27.2</a:t>
                      </a:r>
                    </a:p>
                  </a:txBody>
                  <a:tcPr anchor="ctr" marT="12700" marB="12700" marL="63500" marR="63500">
                    <a:solidFill>
                      <a:srgbClr val="FFFFFF"/>
                    </a:solidFill>
                  </a:tcPr>
                </a:tc>
                <a:tc>
                  <a:txBody>
                    <a:bodyPr wrap="square"/>
                    <a:lstStyle/>
                    <a:p>
                      <a:r>
                        <a:rPr sz="1000">
                          <a:solidFill>
                            <a:srgbClr val="262B2F"/>
                          </a:solidFill>
                          <a:latin typeface="Arial"/>
                        </a:rPr>
                        <a:t>53.3×</a:t>
                      </a:r>
                    </a:p>
                  </a:txBody>
                  <a:tcPr anchor="ctr" marT="12700" marB="12700" marL="63500" marR="63500">
                    <a:solidFill>
                      <a:srgbClr val="FFFFFF"/>
                    </a:solidFill>
                  </a:tcPr>
                </a:tc>
                <a:tc>
                  <a:txBody>
                    <a:bodyPr wrap="square"/>
                    <a:lstStyle/>
                    <a:p>
                      <a:r>
                        <a:rPr sz="1000">
                          <a:solidFill>
                            <a:srgbClr val="262B2F"/>
                          </a:solidFill>
                          <a:latin typeface="Arial"/>
                        </a:rPr>
                        <a:t>189 MB</a:t>
                      </a:r>
                    </a:p>
                  </a:txBody>
                  <a:tcPr anchor="ctr" marT="12700" marB="12700" marL="63500" marR="63500">
                    <a:solidFill>
                      <a:srgbClr val="FFFFFF"/>
                    </a:solidFill>
                  </a:tcPr>
                </a:tc>
              </a:tr>
              <a:tr h="205740">
                <a:tc>
                  <a:txBody>
                    <a:bodyPr wrap="square"/>
                    <a:lstStyle/>
                    <a:p>
                      <a:r>
                        <a:rPr sz="1000">
                          <a:solidFill>
                            <a:srgbClr val="262B2F"/>
                          </a:solidFill>
                          <a:latin typeface="Arial"/>
                        </a:rPr>
                        <a:t>corr=0.75, k=None</a:t>
                      </a:r>
                    </a:p>
                  </a:txBody>
                  <a:tcPr anchor="ctr" marT="12700" marB="12700" marL="63500" marR="63500">
                    <a:solidFill>
                      <a:srgbClr val="FFFFFF"/>
                    </a:solidFill>
                  </a:tcPr>
                </a:tc>
                <a:tc>
                  <a:txBody>
                    <a:bodyPr wrap="square"/>
                    <a:lstStyle/>
                    <a:p>
                      <a:r>
                        <a:rPr sz="1000">
                          <a:solidFill>
                            <a:srgbClr val="262B2F"/>
                          </a:solidFill>
                          <a:latin typeface="Arial"/>
                        </a:rPr>
                        <a:t>1440.3</a:t>
                      </a:r>
                    </a:p>
                  </a:txBody>
                  <a:tcPr anchor="ctr" marT="12700" marB="12700" marL="63500" marR="63500">
                    <a:solidFill>
                      <a:srgbClr val="FFFFFF"/>
                    </a:solidFill>
                  </a:tcPr>
                </a:tc>
                <a:tc>
                  <a:txBody>
                    <a:bodyPr wrap="square"/>
                    <a:lstStyle/>
                    <a:p>
                      <a:r>
                        <a:rPr sz="1000">
                          <a:solidFill>
                            <a:srgbClr val="262B2F"/>
                          </a:solidFill>
                          <a:latin typeface="Arial"/>
                        </a:rPr>
                        <a:t>26.6</a:t>
                      </a:r>
                    </a:p>
                  </a:txBody>
                  <a:tcPr anchor="ctr" marT="12700" marB="12700" marL="63500" marR="63500">
                    <a:solidFill>
                      <a:srgbClr val="FFFFFF"/>
                    </a:solidFill>
                  </a:tcPr>
                </a:tc>
                <a:tc>
                  <a:txBody>
                    <a:bodyPr wrap="square"/>
                    <a:lstStyle/>
                    <a:p>
                      <a:r>
                        <a:rPr sz="1000">
                          <a:solidFill>
                            <a:srgbClr val="262B2F"/>
                          </a:solidFill>
                          <a:latin typeface="Arial"/>
                        </a:rPr>
                        <a:t>54.2×</a:t>
                      </a:r>
                    </a:p>
                  </a:txBody>
                  <a:tcPr anchor="ctr" marT="12700" marB="12700" marL="63500" marR="63500">
                    <a:solidFill>
                      <a:srgbClr val="FFFFFF"/>
                    </a:solidFill>
                  </a:tcPr>
                </a:tc>
                <a:tc>
                  <a:txBody>
                    <a:bodyPr wrap="square"/>
                    <a:lstStyle/>
                    <a:p>
                      <a:r>
                        <a:rPr sz="1000">
                          <a:solidFill>
                            <a:srgbClr val="262B2F"/>
                          </a:solidFill>
                          <a:latin typeface="Arial"/>
                        </a:rPr>
                        <a:t>189 MB</a:t>
                      </a:r>
                    </a:p>
                  </a:txBody>
                  <a:tcPr anchor="ctr" marT="12700" marB="12700" marL="63500" marR="63500">
                    <a:solidFill>
                      <a:srgbClr val="FFFFFF"/>
                    </a:solidFill>
                  </a:tcPr>
                </a:tc>
              </a:tr>
              <a:tr h="205740">
                <a:tc>
                  <a:txBody>
                    <a:bodyPr wrap="square"/>
                    <a:lstStyle/>
                    <a:p>
                      <a:r>
                        <a:rPr sz="1000">
                          <a:solidFill>
                            <a:srgbClr val="262B2F"/>
                          </a:solidFill>
                          <a:latin typeface="Arial"/>
                        </a:rPr>
                        <a:t>corr=0.90, k=30</a:t>
                      </a:r>
                    </a:p>
                  </a:txBody>
                  <a:tcPr anchor="ctr" marT="12700" marB="12700" marL="63500" marR="63500">
                    <a:solidFill>
                      <a:srgbClr val="FFFFFF"/>
                    </a:solidFill>
                  </a:tcPr>
                </a:tc>
                <a:tc>
                  <a:txBody>
                    <a:bodyPr wrap="square"/>
                    <a:lstStyle/>
                    <a:p>
                      <a:r>
                        <a:rPr sz="1000">
                          <a:solidFill>
                            <a:srgbClr val="262B2F"/>
                          </a:solidFill>
                          <a:latin typeface="Arial"/>
                        </a:rPr>
                        <a:t>964.1</a:t>
                      </a:r>
                    </a:p>
                  </a:txBody>
                  <a:tcPr anchor="ctr" marT="12700" marB="12700" marL="63500" marR="63500">
                    <a:solidFill>
                      <a:srgbClr val="FFFFFF"/>
                    </a:solidFill>
                  </a:tcPr>
                </a:tc>
                <a:tc>
                  <a:txBody>
                    <a:bodyPr wrap="square"/>
                    <a:lstStyle/>
                    <a:p>
                      <a:r>
                        <a:rPr sz="1000">
                          <a:solidFill>
                            <a:srgbClr val="262B2F"/>
                          </a:solidFill>
                          <a:latin typeface="Arial"/>
                        </a:rPr>
                        <a:t>25.7</a:t>
                      </a:r>
                    </a:p>
                  </a:txBody>
                  <a:tcPr anchor="ctr" marT="12700" marB="12700" marL="63500" marR="63500">
                    <a:solidFill>
                      <a:srgbClr val="FFFFFF"/>
                    </a:solidFill>
                  </a:tcPr>
                </a:tc>
                <a:tc>
                  <a:txBody>
                    <a:bodyPr wrap="square"/>
                    <a:lstStyle/>
                    <a:p>
                      <a:r>
                        <a:rPr sz="1000">
                          <a:solidFill>
                            <a:srgbClr val="262B2F"/>
                          </a:solidFill>
                          <a:latin typeface="Arial"/>
                        </a:rPr>
                        <a:t>37.5×</a:t>
                      </a:r>
                    </a:p>
                  </a:txBody>
                  <a:tcPr anchor="ctr" marT="12700" marB="12700" marL="63500" marR="63500">
                    <a:solidFill>
                      <a:srgbClr val="FFFFFF"/>
                    </a:solidFill>
                  </a:tcPr>
                </a:tc>
                <a:tc>
                  <a:txBody>
                    <a:bodyPr wrap="square"/>
                    <a:lstStyle/>
                    <a:p>
                      <a:r>
                        <a:rPr sz="1000">
                          <a:solidFill>
                            <a:srgbClr val="262B2F"/>
                          </a:solidFill>
                          <a:latin typeface="Arial"/>
                        </a:rPr>
                        <a:t>176 MB</a:t>
                      </a:r>
                    </a:p>
                  </a:txBody>
                  <a:tcPr anchor="ctr" marT="12700" marB="12700" marL="63500" marR="63500">
                    <a:solidFill>
                      <a:srgbClr val="FFFFFF"/>
                    </a:solidFill>
                  </a:tcPr>
                </a:tc>
              </a:tr>
              <a:tr h="205740">
                <a:tc>
                  <a:txBody>
                    <a:bodyPr wrap="square"/>
                    <a:lstStyle/>
                    <a:p>
                      <a:r>
                        <a:rPr sz="1000">
                          <a:solidFill>
                            <a:srgbClr val="262B2F"/>
                          </a:solidFill>
                          <a:latin typeface="Arial"/>
                        </a:rPr>
                        <a:t>corr=0.90, k=50</a:t>
                      </a:r>
                    </a:p>
                  </a:txBody>
                  <a:tcPr anchor="ctr" marT="12700" marB="12700" marL="63500" marR="63500">
                    <a:solidFill>
                      <a:srgbClr val="FFFFFF"/>
                    </a:solidFill>
                  </a:tcPr>
                </a:tc>
                <a:tc>
                  <a:txBody>
                    <a:bodyPr wrap="square"/>
                    <a:lstStyle/>
                    <a:p>
                      <a:r>
                        <a:rPr sz="1000">
                          <a:solidFill>
                            <a:srgbClr val="262B2F"/>
                          </a:solidFill>
                          <a:latin typeface="Arial"/>
                        </a:rPr>
                        <a:t>1453.8</a:t>
                      </a:r>
                    </a:p>
                  </a:txBody>
                  <a:tcPr anchor="ctr" marT="12700" marB="12700" marL="63500" marR="63500">
                    <a:solidFill>
                      <a:srgbClr val="FFFFFF"/>
                    </a:solidFill>
                  </a:tcPr>
                </a:tc>
                <a:tc>
                  <a:txBody>
                    <a:bodyPr wrap="square"/>
                    <a:lstStyle/>
                    <a:p>
                      <a:r>
                        <a:rPr sz="1000">
                          <a:solidFill>
                            <a:srgbClr val="262B2F"/>
                          </a:solidFill>
                          <a:latin typeface="Arial"/>
                        </a:rPr>
                        <a:t>26.4</a:t>
                      </a:r>
                    </a:p>
                  </a:txBody>
                  <a:tcPr anchor="ctr" marT="12700" marB="12700" marL="63500" marR="63500">
                    <a:solidFill>
                      <a:srgbClr val="FFFFFF"/>
                    </a:solidFill>
                  </a:tcPr>
                </a:tc>
                <a:tc>
                  <a:txBody>
                    <a:bodyPr wrap="square"/>
                    <a:lstStyle/>
                    <a:p>
                      <a:r>
                        <a:rPr sz="1000">
                          <a:solidFill>
                            <a:srgbClr val="262B2F"/>
                          </a:solidFill>
                          <a:latin typeface="Arial"/>
                        </a:rPr>
                        <a:t>55.1×</a:t>
                      </a:r>
                    </a:p>
                  </a:txBody>
                  <a:tcPr anchor="ctr" marT="12700" marB="12700" marL="63500" marR="63500">
                    <a:solidFill>
                      <a:srgbClr val="FFFFFF"/>
                    </a:solidFill>
                  </a:tcPr>
                </a:tc>
                <a:tc>
                  <a:txBody>
                    <a:bodyPr wrap="square"/>
                    <a:lstStyle/>
                    <a:p>
                      <a:r>
                        <a:rPr sz="1000">
                          <a:solidFill>
                            <a:srgbClr val="262B2F"/>
                          </a:solidFill>
                          <a:latin typeface="Arial"/>
                        </a:rPr>
                        <a:t>187 MB</a:t>
                      </a:r>
                    </a:p>
                  </a:txBody>
                  <a:tcPr anchor="ctr" marT="12700" marB="12700" marL="63500" marR="63500">
                    <a:solidFill>
                      <a:srgbClr val="FFFFFF"/>
                    </a:solidFill>
                  </a:tcPr>
                </a:tc>
              </a:tr>
              <a:tr h="205740">
                <a:tc>
                  <a:txBody>
                    <a:bodyPr wrap="square"/>
                    <a:lstStyle/>
                    <a:p>
                      <a:r>
                        <a:rPr sz="1000">
                          <a:solidFill>
                            <a:srgbClr val="262B2F"/>
                          </a:solidFill>
                          <a:latin typeface="Arial"/>
                        </a:rPr>
                        <a:t>corr=0.90, k=None</a:t>
                      </a:r>
                    </a:p>
                  </a:txBody>
                  <a:tcPr anchor="ctr" marT="12700" marB="12700" marL="63500" marR="63500">
                    <a:solidFill>
                      <a:srgbClr val="FFFFFF"/>
                    </a:solidFill>
                  </a:tcPr>
                </a:tc>
                <a:tc>
                  <a:txBody>
                    <a:bodyPr wrap="square"/>
                    <a:lstStyle/>
                    <a:p>
                      <a:r>
                        <a:rPr sz="1000">
                          <a:solidFill>
                            <a:srgbClr val="262B2F"/>
                          </a:solidFill>
                          <a:latin typeface="Arial"/>
                        </a:rPr>
                        <a:t>2223.6</a:t>
                      </a:r>
                    </a:p>
                  </a:txBody>
                  <a:tcPr anchor="ctr" marT="12700" marB="12700" marL="63500" marR="63500">
                    <a:solidFill>
                      <a:srgbClr val="FFFFFF"/>
                    </a:solidFill>
                  </a:tcPr>
                </a:tc>
                <a:tc>
                  <a:txBody>
                    <a:bodyPr wrap="square"/>
                    <a:lstStyle/>
                    <a:p>
                      <a:r>
                        <a:rPr sz="1000">
                          <a:solidFill>
                            <a:srgbClr val="262B2F"/>
                          </a:solidFill>
                          <a:latin typeface="Arial"/>
                        </a:rPr>
                        <a:t>28.2</a:t>
                      </a:r>
                    </a:p>
                  </a:txBody>
                  <a:tcPr anchor="ctr" marT="12700" marB="12700" marL="63500" marR="63500">
                    <a:solidFill>
                      <a:srgbClr val="FFFFFF"/>
                    </a:solidFill>
                  </a:tcPr>
                </a:tc>
                <a:tc>
                  <a:txBody>
                    <a:bodyPr wrap="square"/>
                    <a:lstStyle/>
                    <a:p>
                      <a:r>
                        <a:rPr sz="1000">
                          <a:solidFill>
                            <a:srgbClr val="262B2F"/>
                          </a:solidFill>
                          <a:latin typeface="Arial"/>
                        </a:rPr>
                        <a:t>78.8×</a:t>
                      </a:r>
                    </a:p>
                  </a:txBody>
                  <a:tcPr anchor="ctr" marT="12700" marB="12700" marL="63500" marR="63500">
                    <a:solidFill>
                      <a:srgbClr val="FFFFFF"/>
                    </a:solidFill>
                  </a:tcPr>
                </a:tc>
                <a:tc>
                  <a:txBody>
                    <a:bodyPr wrap="square"/>
                    <a:lstStyle/>
                    <a:p>
                      <a:r>
                        <a:rPr sz="1000">
                          <a:solidFill>
                            <a:srgbClr val="262B2F"/>
                          </a:solidFill>
                          <a:latin typeface="Arial"/>
                        </a:rPr>
                        <a:t>189 MB</a:t>
                      </a:r>
                    </a:p>
                  </a:txBody>
                  <a:tcPr anchor="ctr" marT="12700" marB="12700" marL="63500" marR="63500">
                    <a:solidFill>
                      <a:srgbClr val="FFFFFF"/>
                    </a:solidFill>
                  </a:tcPr>
                </a:tc>
              </a:tr>
              <a:tr h="205740">
                <a:tc>
                  <a:txBody>
                    <a:bodyPr wrap="square"/>
                    <a:lstStyle/>
                    <a:p>
                      <a:r>
                        <a:rPr sz="1000">
                          <a:solidFill>
                            <a:srgbClr val="262B2F"/>
                          </a:solidFill>
                          <a:latin typeface="Arial"/>
                        </a:rPr>
                        <a:t>corr=None, k=30</a:t>
                      </a:r>
                    </a:p>
                  </a:txBody>
                  <a:tcPr anchor="ctr" marT="12700" marB="12700" marL="63500" marR="63500">
                    <a:solidFill>
                      <a:srgbClr val="FFFFFF"/>
                    </a:solidFill>
                  </a:tcPr>
                </a:tc>
                <a:tc>
                  <a:txBody>
                    <a:bodyPr wrap="square"/>
                    <a:lstStyle/>
                    <a:p>
                      <a:r>
                        <a:rPr sz="1000">
                          <a:solidFill>
                            <a:srgbClr val="262B2F"/>
                          </a:solidFill>
                          <a:latin typeface="Arial"/>
                        </a:rPr>
                        <a:t>1003.6</a:t>
                      </a:r>
                    </a:p>
                  </a:txBody>
                  <a:tcPr anchor="ctr" marT="12700" marB="12700" marL="63500" marR="63500">
                    <a:solidFill>
                      <a:srgbClr val="FFFFFF"/>
                    </a:solidFill>
                  </a:tcPr>
                </a:tc>
                <a:tc>
                  <a:txBody>
                    <a:bodyPr wrap="square"/>
                    <a:lstStyle/>
                    <a:p>
                      <a:r>
                        <a:rPr sz="1000">
                          <a:solidFill>
                            <a:srgbClr val="262B2F"/>
                          </a:solidFill>
                          <a:latin typeface="Arial"/>
                        </a:rPr>
                        <a:t>21.1</a:t>
                      </a:r>
                    </a:p>
                  </a:txBody>
                  <a:tcPr anchor="ctr" marT="12700" marB="12700" marL="63500" marR="63500">
                    <a:solidFill>
                      <a:srgbClr val="FFFFFF"/>
                    </a:solidFill>
                  </a:tcPr>
                </a:tc>
                <a:tc>
                  <a:txBody>
                    <a:bodyPr wrap="square"/>
                    <a:lstStyle/>
                    <a:p>
                      <a:r>
                        <a:rPr sz="1000">
                          <a:solidFill>
                            <a:srgbClr val="262B2F"/>
                          </a:solidFill>
                          <a:latin typeface="Arial"/>
                        </a:rPr>
                        <a:t>47.7×</a:t>
                      </a:r>
                    </a:p>
                  </a:txBody>
                  <a:tcPr anchor="ctr" marT="12700" marB="12700" marL="63500" marR="63500">
                    <a:solidFill>
                      <a:srgbClr val="FFFFFF"/>
                    </a:solidFill>
                  </a:tcPr>
                </a:tc>
                <a:tc>
                  <a:txBody>
                    <a:bodyPr wrap="square"/>
                    <a:lstStyle/>
                    <a:p>
                      <a:r>
                        <a:rPr sz="1000">
                          <a:solidFill>
                            <a:srgbClr val="262B2F"/>
                          </a:solidFill>
                          <a:latin typeface="Arial"/>
                        </a:rPr>
                        <a:t>177 MB</a:t>
                      </a:r>
                    </a:p>
                  </a:txBody>
                  <a:tcPr anchor="ctr" marT="12700" marB="12700" marL="63500" marR="63500">
                    <a:solidFill>
                      <a:srgbClr val="FFFFFF"/>
                    </a:solidFill>
                  </a:tcPr>
                </a:tc>
              </a:tr>
              <a:tr h="205740">
                <a:tc>
                  <a:txBody>
                    <a:bodyPr wrap="square"/>
                    <a:lstStyle/>
                    <a:p>
                      <a:r>
                        <a:rPr sz="1000">
                          <a:solidFill>
                            <a:srgbClr val="262B2F"/>
                          </a:solidFill>
                          <a:latin typeface="Arial"/>
                        </a:rPr>
                        <a:t>corr=None, k=50</a:t>
                      </a:r>
                    </a:p>
                  </a:txBody>
                  <a:tcPr anchor="ctr" marT="12700" marB="12700" marL="63500" marR="63500">
                    <a:solidFill>
                      <a:srgbClr val="FFFFFF"/>
                    </a:solidFill>
                  </a:tcPr>
                </a:tc>
                <a:tc>
                  <a:txBody>
                    <a:bodyPr wrap="square"/>
                    <a:lstStyle/>
                    <a:p>
                      <a:r>
                        <a:rPr sz="1000">
                          <a:solidFill>
                            <a:srgbClr val="262B2F"/>
                          </a:solidFill>
                          <a:latin typeface="Arial"/>
                        </a:rPr>
                        <a:t>1385.9</a:t>
                      </a:r>
                    </a:p>
                  </a:txBody>
                  <a:tcPr anchor="ctr" marT="12700" marB="12700" marL="63500" marR="63500">
                    <a:solidFill>
                      <a:srgbClr val="FFFFFF"/>
                    </a:solidFill>
                  </a:tcPr>
                </a:tc>
                <a:tc>
                  <a:txBody>
                    <a:bodyPr wrap="square"/>
                    <a:lstStyle/>
                    <a:p>
                      <a:r>
                        <a:rPr sz="1000">
                          <a:solidFill>
                            <a:srgbClr val="262B2F"/>
                          </a:solidFill>
                          <a:latin typeface="Arial"/>
                        </a:rPr>
                        <a:t>21.2</a:t>
                      </a:r>
                    </a:p>
                  </a:txBody>
                  <a:tcPr anchor="ctr" marT="12700" marB="12700" marL="63500" marR="63500">
                    <a:solidFill>
                      <a:srgbClr val="FFFFFF"/>
                    </a:solidFill>
                  </a:tcPr>
                </a:tc>
                <a:tc>
                  <a:txBody>
                    <a:bodyPr wrap="square"/>
                    <a:lstStyle/>
                    <a:p>
                      <a:r>
                        <a:rPr sz="1000">
                          <a:solidFill>
                            <a:srgbClr val="262B2F"/>
                          </a:solidFill>
                          <a:latin typeface="Arial"/>
                        </a:rPr>
                        <a:t>65.3×</a:t>
                      </a:r>
                    </a:p>
                  </a:txBody>
                  <a:tcPr anchor="ctr" marT="12700" marB="12700" marL="63500" marR="63500">
                    <a:solidFill>
                      <a:srgbClr val="FFFFFF"/>
                    </a:solidFill>
                  </a:tcPr>
                </a:tc>
                <a:tc>
                  <a:txBody>
                    <a:bodyPr wrap="square"/>
                    <a:lstStyle/>
                    <a:p>
                      <a:r>
                        <a:rPr sz="1000">
                          <a:solidFill>
                            <a:srgbClr val="262B2F"/>
                          </a:solidFill>
                          <a:latin typeface="Arial"/>
                        </a:rPr>
                        <a:t>178 MB</a:t>
                      </a:r>
                    </a:p>
                  </a:txBody>
                  <a:tcPr anchor="ctr" marT="12700" marB="12700" marL="63500" marR="63500">
                    <a:solidFill>
                      <a:srgbClr val="FFFFFF"/>
                    </a:solidFill>
                  </a:tcPr>
                </a:tc>
              </a:tr>
              <a:tr h="205740">
                <a:tc>
                  <a:txBody>
                    <a:bodyPr wrap="square"/>
                    <a:lstStyle/>
                    <a:p>
                      <a:r>
                        <a:rPr sz="1000" b="1">
                          <a:solidFill>
                            <a:srgbClr val="262B2F"/>
                          </a:solidFill>
                          <a:latin typeface="Arial"/>
                        </a:rPr>
                        <a:t>corr=None, k=None</a:t>
                      </a:r>
                    </a:p>
                  </a:txBody>
                  <a:tcPr anchor="ctr" marT="12700" marB="12700" marL="63500" marR="63500">
                    <a:solidFill>
                      <a:srgbClr val="FFE3C1"/>
                    </a:solidFill>
                  </a:tcPr>
                </a:tc>
                <a:tc>
                  <a:txBody>
                    <a:bodyPr wrap="square"/>
                    <a:lstStyle/>
                    <a:p>
                      <a:r>
                        <a:rPr sz="1000" b="1">
                          <a:solidFill>
                            <a:srgbClr val="262B2F"/>
                          </a:solidFill>
                          <a:latin typeface="Arial"/>
                        </a:rPr>
                        <a:t>3816.1</a:t>
                      </a:r>
                    </a:p>
                  </a:txBody>
                  <a:tcPr anchor="ctr" marT="12700" marB="12700" marL="63500" marR="63500">
                    <a:solidFill>
                      <a:srgbClr val="FFE3C1"/>
                    </a:solidFill>
                  </a:tcPr>
                </a:tc>
                <a:tc>
                  <a:txBody>
                    <a:bodyPr wrap="square"/>
                    <a:lstStyle/>
                    <a:p>
                      <a:r>
                        <a:rPr sz="1000" b="1">
                          <a:solidFill>
                            <a:srgbClr val="262B2F"/>
                          </a:solidFill>
                          <a:latin typeface="Arial"/>
                        </a:rPr>
                        <a:t>18.9</a:t>
                      </a:r>
                    </a:p>
                  </a:txBody>
                  <a:tcPr anchor="ctr" marT="12700" marB="12700" marL="63500" marR="63500">
                    <a:solidFill>
                      <a:srgbClr val="FFE3C1"/>
                    </a:solidFill>
                  </a:tcPr>
                </a:tc>
                <a:tc>
                  <a:txBody>
                    <a:bodyPr wrap="square"/>
                    <a:lstStyle/>
                    <a:p>
                      <a:r>
                        <a:rPr sz="1000" b="1">
                          <a:solidFill>
                            <a:srgbClr val="262B2F"/>
                          </a:solidFill>
                          <a:latin typeface="Arial"/>
                        </a:rPr>
                        <a:t>202×</a:t>
                      </a:r>
                    </a:p>
                  </a:txBody>
                  <a:tcPr anchor="ctr" marT="12700" marB="12700" marL="63500" marR="63500">
                    <a:solidFill>
                      <a:srgbClr val="FFE3C1"/>
                    </a:solidFill>
                  </a:tcPr>
                </a:tc>
                <a:tc>
                  <a:txBody>
                    <a:bodyPr wrap="square"/>
                    <a:lstStyle/>
                    <a:p>
                      <a:r>
                        <a:rPr sz="1000" b="1">
                          <a:solidFill>
                            <a:srgbClr val="262B2F"/>
                          </a:solidFill>
                          <a:latin typeface="Arial"/>
                        </a:rPr>
                        <a:t>188 MB</a:t>
                      </a:r>
                    </a:p>
                  </a:txBody>
                  <a:tcPr anchor="ctr" marT="12700" marB="12700" marL="63500" marR="63500">
                    <a:solidFill>
                      <a:srgbClr val="FFE3C1"/>
                    </a:solidFill>
                  </a:tcPr>
                </a:tc>
              </a:tr>
            </a:tbl>
          </a:graphicData>
        </a:graphic>
      </p:graphicFrame>
      <p:sp>
        <p:nvSpPr>
          <p:cNvPr id="5" name="TextBox 4"/>
          <p:cNvSpPr txBox="1"/>
          <p:nvPr/>
        </p:nvSpPr>
        <p:spPr>
          <a:xfrm>
            <a:off x="822960" y="3886200"/>
            <a:ext cx="10515600" cy="274320"/>
          </a:xfrm>
          <a:prstGeom prst="rect">
            <a:avLst/>
          </a:prstGeom>
          <a:noFill/>
        </p:spPr>
        <p:txBody>
          <a:bodyPr wrap="none">
            <a:spAutoFit/>
          </a:bodyPr>
          <a:lstStyle/>
          <a:p>
            <a:r>
              <a:rPr sz="1400" b="1">
                <a:solidFill>
                  <a:srgbClr val="FF9E1B"/>
                </a:solidFill>
              </a:rPr>
              <a:t>Random Forest — median 11.6×, ~18.5 GB  (borderline viable)</a:t>
            </a:r>
          </a:p>
        </p:txBody>
      </p:sp>
      <p:graphicFrame>
        <p:nvGraphicFramePr>
          <p:cNvPr id="6" name="Table 5"/>
          <p:cNvGraphicFramePr>
            <a:graphicFrameLocks noGrp="1"/>
          </p:cNvGraphicFramePr>
          <p:nvPr/>
        </p:nvGraphicFramePr>
        <p:xfrm>
          <a:off x="822960" y="4178808"/>
          <a:ext cx="10515600" cy="2057400"/>
        </p:xfrm>
        <a:graphic>
          <a:graphicData uri="http://schemas.openxmlformats.org/drawingml/2006/table">
            <a:tbl>
              <a:tblPr firstRow="1" bandRow="1">
                <a:tableStyleId>{5C22544A-7EE6-4342-B048-85BDC9FD1C3A}</a:tableStyleId>
              </a:tblPr>
              <a:tblGrid>
                <a:gridCol w="3383280"/>
                <a:gridCol w="1783080"/>
                <a:gridCol w="1783080"/>
                <a:gridCol w="1783080"/>
                <a:gridCol w="1783080"/>
              </a:tblGrid>
              <a:tr h="205740">
                <a:tc>
                  <a:txBody>
                    <a:bodyPr wrap="square"/>
                    <a:lstStyle/>
                    <a:p>
                      <a:r>
                        <a:rPr sz="1000" b="1">
                          <a:solidFill>
                            <a:srgbClr val="FFFFFF"/>
                          </a:solidFill>
                          <a:latin typeface="Arial"/>
                        </a:rPr>
                        <a:t>Config</a:t>
                      </a:r>
                    </a:p>
                  </a:txBody>
                  <a:tcPr anchor="ctr" marT="12700" marB="12700" marL="63500" marR="63500">
                    <a:solidFill>
                      <a:srgbClr val="FF9E1B"/>
                    </a:solidFill>
                  </a:tcPr>
                </a:tc>
                <a:tc>
                  <a:txBody>
                    <a:bodyPr wrap="square"/>
                    <a:lstStyle/>
                    <a:p>
                      <a:r>
                        <a:rPr sz="1000" b="1">
                          <a:solidFill>
                            <a:srgbClr val="FFFFFF"/>
                          </a:solidFill>
                          <a:latin typeface="Arial"/>
                        </a:rPr>
                        <a:t>Cold (s)</a:t>
                      </a:r>
                    </a:p>
                  </a:txBody>
                  <a:tcPr anchor="ctr" marT="12700" marB="12700" marL="63500" marR="63500">
                    <a:solidFill>
                      <a:srgbClr val="FF9E1B"/>
                    </a:solidFill>
                  </a:tcPr>
                </a:tc>
                <a:tc>
                  <a:txBody>
                    <a:bodyPr wrap="square"/>
                    <a:lstStyle/>
                    <a:p>
                      <a:r>
                        <a:rPr sz="1000" b="1">
                          <a:solidFill>
                            <a:srgbClr val="FFFFFF"/>
                          </a:solidFill>
                          <a:latin typeface="Arial"/>
                        </a:rPr>
                        <a:t>Warm (s)</a:t>
                      </a:r>
                    </a:p>
                  </a:txBody>
                  <a:tcPr anchor="ctr" marT="12700" marB="12700" marL="63500" marR="63500">
                    <a:solidFill>
                      <a:srgbClr val="FF9E1B"/>
                    </a:solidFill>
                  </a:tcPr>
                </a:tc>
                <a:tc>
                  <a:txBody>
                    <a:bodyPr wrap="square"/>
                    <a:lstStyle/>
                    <a:p>
                      <a:r>
                        <a:rPr sz="1000" b="1">
                          <a:solidFill>
                            <a:srgbClr val="FFFFFF"/>
                          </a:solidFill>
                          <a:latin typeface="Arial"/>
                        </a:rPr>
                        <a:t>Speedup</a:t>
                      </a:r>
                    </a:p>
                  </a:txBody>
                  <a:tcPr anchor="ctr" marT="12700" marB="12700" marL="63500" marR="63500">
                    <a:solidFill>
                      <a:srgbClr val="FF9E1B"/>
                    </a:solidFill>
                  </a:tcPr>
                </a:tc>
                <a:tc>
                  <a:txBody>
                    <a:bodyPr wrap="square"/>
                    <a:lstStyle/>
                    <a:p>
                      <a:r>
                        <a:rPr sz="1000" b="1">
                          <a:solidFill>
                            <a:srgbClr val="FFFFFF"/>
                          </a:solidFill>
                          <a:latin typeface="Arial"/>
                        </a:rPr>
                        <a:t>Cache</a:t>
                      </a:r>
                    </a:p>
                  </a:txBody>
                  <a:tcPr anchor="ctr" marT="12700" marB="12700" marL="63500" marR="63500">
                    <a:solidFill>
                      <a:srgbClr val="FF9E1B"/>
                    </a:solidFill>
                  </a:tcPr>
                </a:tc>
              </a:tr>
              <a:tr h="205740">
                <a:tc>
                  <a:txBody>
                    <a:bodyPr wrap="square"/>
                    <a:lstStyle/>
                    <a:p>
                      <a:r>
                        <a:rPr sz="1000">
                          <a:solidFill>
                            <a:srgbClr val="262B2F"/>
                          </a:solidFill>
                          <a:latin typeface="Arial"/>
                        </a:rPr>
                        <a:t>corr=0.75, k=30</a:t>
                      </a:r>
                    </a:p>
                  </a:txBody>
                  <a:tcPr anchor="ctr" marT="12700" marB="12700" marL="63500" marR="63500">
                    <a:solidFill>
                      <a:srgbClr val="FFFFFF"/>
                    </a:solidFill>
                  </a:tcPr>
                </a:tc>
                <a:tc>
                  <a:txBody>
                    <a:bodyPr wrap="square"/>
                    <a:lstStyle/>
                    <a:p>
                      <a:r>
                        <a:rPr sz="1000">
                          <a:solidFill>
                            <a:srgbClr val="262B2F"/>
                          </a:solidFill>
                          <a:latin typeface="Arial"/>
                        </a:rPr>
                        <a:t>4341.3</a:t>
                      </a:r>
                    </a:p>
                  </a:txBody>
                  <a:tcPr anchor="ctr" marT="12700" marB="12700" marL="63500" marR="63500">
                    <a:solidFill>
                      <a:srgbClr val="FFFFFF"/>
                    </a:solidFill>
                  </a:tcPr>
                </a:tc>
                <a:tc>
                  <a:txBody>
                    <a:bodyPr wrap="square"/>
                    <a:lstStyle/>
                    <a:p>
                      <a:r>
                        <a:rPr sz="1000">
                          <a:solidFill>
                            <a:srgbClr val="262B2F"/>
                          </a:solidFill>
                          <a:latin typeface="Arial"/>
                        </a:rPr>
                        <a:t>391.8</a:t>
                      </a:r>
                    </a:p>
                  </a:txBody>
                  <a:tcPr anchor="ctr" marT="12700" marB="12700" marL="63500" marR="63500">
                    <a:solidFill>
                      <a:srgbClr val="FFFFFF"/>
                    </a:solidFill>
                  </a:tcPr>
                </a:tc>
                <a:tc>
                  <a:txBody>
                    <a:bodyPr wrap="square"/>
                    <a:lstStyle/>
                    <a:p>
                      <a:r>
                        <a:rPr sz="1000">
                          <a:solidFill>
                            <a:srgbClr val="262B2F"/>
                          </a:solidFill>
                          <a:latin typeface="Arial"/>
                        </a:rPr>
                        <a:t>11.1×</a:t>
                      </a:r>
                    </a:p>
                  </a:txBody>
                  <a:tcPr anchor="ctr" marT="12700" marB="12700" marL="63500" marR="63500">
                    <a:solidFill>
                      <a:srgbClr val="FFFFFF"/>
                    </a:solidFill>
                  </a:tcPr>
                </a:tc>
                <a:tc>
                  <a:txBody>
                    <a:bodyPr wrap="square"/>
                    <a:lstStyle/>
                    <a:p>
                      <a:r>
                        <a:rPr sz="1000">
                          <a:solidFill>
                            <a:srgbClr val="262B2F"/>
                          </a:solidFill>
                          <a:latin typeface="Arial"/>
                        </a:rPr>
                        <a:t>19.2 GB</a:t>
                      </a:r>
                    </a:p>
                  </a:txBody>
                  <a:tcPr anchor="ctr" marT="12700" marB="12700" marL="63500" marR="63500">
                    <a:solidFill>
                      <a:srgbClr val="FFFFFF"/>
                    </a:solidFill>
                  </a:tcPr>
                </a:tc>
              </a:tr>
              <a:tr h="205740">
                <a:tc>
                  <a:txBody>
                    <a:bodyPr wrap="square"/>
                    <a:lstStyle/>
                    <a:p>
                      <a:r>
                        <a:rPr sz="1000">
                          <a:solidFill>
                            <a:srgbClr val="262B2F"/>
                          </a:solidFill>
                          <a:latin typeface="Arial"/>
                        </a:rPr>
                        <a:t>corr=0.75, k=50</a:t>
                      </a:r>
                    </a:p>
                  </a:txBody>
                  <a:tcPr anchor="ctr" marT="12700" marB="12700" marL="63500" marR="63500">
                    <a:solidFill>
                      <a:srgbClr val="FFFFFF"/>
                    </a:solidFill>
                  </a:tcPr>
                </a:tc>
                <a:tc>
                  <a:txBody>
                    <a:bodyPr wrap="square"/>
                    <a:lstStyle/>
                    <a:p>
                      <a:r>
                        <a:rPr sz="1000">
                          <a:solidFill>
                            <a:srgbClr val="262B2F"/>
                          </a:solidFill>
                          <a:latin typeface="Arial"/>
                        </a:rPr>
                        <a:t>4638.0</a:t>
                      </a:r>
                    </a:p>
                  </a:txBody>
                  <a:tcPr anchor="ctr" marT="12700" marB="12700" marL="63500" marR="63500">
                    <a:solidFill>
                      <a:srgbClr val="FFFFFF"/>
                    </a:solidFill>
                  </a:tcPr>
                </a:tc>
                <a:tc>
                  <a:txBody>
                    <a:bodyPr wrap="square"/>
                    <a:lstStyle/>
                    <a:p>
                      <a:r>
                        <a:rPr sz="1000">
                          <a:solidFill>
                            <a:srgbClr val="262B2F"/>
                          </a:solidFill>
                          <a:latin typeface="Arial"/>
                        </a:rPr>
                        <a:t>402.8</a:t>
                      </a:r>
                    </a:p>
                  </a:txBody>
                  <a:tcPr anchor="ctr" marT="12700" marB="12700" marL="63500" marR="63500">
                    <a:solidFill>
                      <a:srgbClr val="FFFFFF"/>
                    </a:solidFill>
                  </a:tcPr>
                </a:tc>
                <a:tc>
                  <a:txBody>
                    <a:bodyPr wrap="square"/>
                    <a:lstStyle/>
                    <a:p>
                      <a:r>
                        <a:rPr sz="1000">
                          <a:solidFill>
                            <a:srgbClr val="262B2F"/>
                          </a:solidFill>
                          <a:latin typeface="Arial"/>
                        </a:rPr>
                        <a:t>11.5×</a:t>
                      </a:r>
                    </a:p>
                  </a:txBody>
                  <a:tcPr anchor="ctr" marT="12700" marB="12700" marL="63500" marR="63500">
                    <a:solidFill>
                      <a:srgbClr val="FFFFFF"/>
                    </a:solidFill>
                  </a:tcPr>
                </a:tc>
                <a:tc>
                  <a:txBody>
                    <a:bodyPr wrap="square"/>
                    <a:lstStyle/>
                    <a:p>
                      <a:r>
                        <a:rPr sz="1000">
                          <a:solidFill>
                            <a:srgbClr val="262B2F"/>
                          </a:solidFill>
                          <a:latin typeface="Arial"/>
                        </a:rPr>
                        <a:t>19.9 GB</a:t>
                      </a:r>
                    </a:p>
                  </a:txBody>
                  <a:tcPr anchor="ctr" marT="12700" marB="12700" marL="63500" marR="63500">
                    <a:solidFill>
                      <a:srgbClr val="FFFFFF"/>
                    </a:solidFill>
                  </a:tcPr>
                </a:tc>
              </a:tr>
              <a:tr h="205740">
                <a:tc>
                  <a:txBody>
                    <a:bodyPr wrap="square"/>
                    <a:lstStyle/>
                    <a:p>
                      <a:r>
                        <a:rPr sz="1000">
                          <a:solidFill>
                            <a:srgbClr val="262B2F"/>
                          </a:solidFill>
                          <a:latin typeface="Arial"/>
                        </a:rPr>
                        <a:t>corr=0.75, k=None</a:t>
                      </a:r>
                    </a:p>
                  </a:txBody>
                  <a:tcPr anchor="ctr" marT="12700" marB="12700" marL="63500" marR="63500">
                    <a:solidFill>
                      <a:srgbClr val="FFFFFF"/>
                    </a:solidFill>
                  </a:tcPr>
                </a:tc>
                <a:tc>
                  <a:txBody>
                    <a:bodyPr wrap="square"/>
                    <a:lstStyle/>
                    <a:p>
                      <a:r>
                        <a:rPr sz="1000">
                          <a:solidFill>
                            <a:srgbClr val="262B2F"/>
                          </a:solidFill>
                          <a:latin typeface="Arial"/>
                        </a:rPr>
                        <a:t>4648.3</a:t>
                      </a:r>
                    </a:p>
                  </a:txBody>
                  <a:tcPr anchor="ctr" marT="12700" marB="12700" marL="63500" marR="63500">
                    <a:solidFill>
                      <a:srgbClr val="FFFFFF"/>
                    </a:solidFill>
                  </a:tcPr>
                </a:tc>
                <a:tc>
                  <a:txBody>
                    <a:bodyPr wrap="square"/>
                    <a:lstStyle/>
                    <a:p>
                      <a:r>
                        <a:rPr sz="1000">
                          <a:solidFill>
                            <a:srgbClr val="262B2F"/>
                          </a:solidFill>
                          <a:latin typeface="Arial"/>
                        </a:rPr>
                        <a:t>401.3</a:t>
                      </a:r>
                    </a:p>
                  </a:txBody>
                  <a:tcPr anchor="ctr" marT="12700" marB="12700" marL="63500" marR="63500">
                    <a:solidFill>
                      <a:srgbClr val="FFFFFF"/>
                    </a:solidFill>
                  </a:tcPr>
                </a:tc>
                <a:tc>
                  <a:txBody>
                    <a:bodyPr wrap="square"/>
                    <a:lstStyle/>
                    <a:p>
                      <a:r>
                        <a:rPr sz="1000">
                          <a:solidFill>
                            <a:srgbClr val="262B2F"/>
                          </a:solidFill>
                          <a:latin typeface="Arial"/>
                        </a:rPr>
                        <a:t>11.6×</a:t>
                      </a:r>
                    </a:p>
                  </a:txBody>
                  <a:tcPr anchor="ctr" marT="12700" marB="12700" marL="63500" marR="63500">
                    <a:solidFill>
                      <a:srgbClr val="FFFFFF"/>
                    </a:solidFill>
                  </a:tcPr>
                </a:tc>
                <a:tc>
                  <a:txBody>
                    <a:bodyPr wrap="square"/>
                    <a:lstStyle/>
                    <a:p>
                      <a:r>
                        <a:rPr sz="1000">
                          <a:solidFill>
                            <a:srgbClr val="262B2F"/>
                          </a:solidFill>
                          <a:latin typeface="Arial"/>
                        </a:rPr>
                        <a:t>19.9 GB</a:t>
                      </a:r>
                    </a:p>
                  </a:txBody>
                  <a:tcPr anchor="ctr" marT="12700" marB="12700" marL="63500" marR="63500">
                    <a:solidFill>
                      <a:srgbClr val="FFFFFF"/>
                    </a:solidFill>
                  </a:tcPr>
                </a:tc>
              </a:tr>
              <a:tr h="205740">
                <a:tc>
                  <a:txBody>
                    <a:bodyPr wrap="square"/>
                    <a:lstStyle/>
                    <a:p>
                      <a:r>
                        <a:rPr sz="1000">
                          <a:solidFill>
                            <a:srgbClr val="262B2F"/>
                          </a:solidFill>
                          <a:latin typeface="Arial"/>
                        </a:rPr>
                        <a:t>corr=0.90, k=30</a:t>
                      </a:r>
                    </a:p>
                  </a:txBody>
                  <a:tcPr anchor="ctr" marT="12700" marB="12700" marL="63500" marR="63500">
                    <a:solidFill>
                      <a:srgbClr val="FFFFFF"/>
                    </a:solidFill>
                  </a:tcPr>
                </a:tc>
                <a:tc>
                  <a:txBody>
                    <a:bodyPr wrap="square"/>
                    <a:lstStyle/>
                    <a:p>
                      <a:r>
                        <a:rPr sz="1000">
                          <a:solidFill>
                            <a:srgbClr val="262B2F"/>
                          </a:solidFill>
                          <a:latin typeface="Arial"/>
                        </a:rPr>
                        <a:t>4342.7</a:t>
                      </a:r>
                    </a:p>
                  </a:txBody>
                  <a:tcPr anchor="ctr" marT="12700" marB="12700" marL="63500" marR="63500">
                    <a:solidFill>
                      <a:srgbClr val="FFFFFF"/>
                    </a:solidFill>
                  </a:tcPr>
                </a:tc>
                <a:tc>
                  <a:txBody>
                    <a:bodyPr wrap="square"/>
                    <a:lstStyle/>
                    <a:p>
                      <a:r>
                        <a:rPr sz="1000">
                          <a:solidFill>
                            <a:srgbClr val="262B2F"/>
                          </a:solidFill>
                          <a:latin typeface="Arial"/>
                        </a:rPr>
                        <a:t>392.2</a:t>
                      </a:r>
                    </a:p>
                  </a:txBody>
                  <a:tcPr anchor="ctr" marT="12700" marB="12700" marL="63500" marR="63500">
                    <a:solidFill>
                      <a:srgbClr val="FFFFFF"/>
                    </a:solidFill>
                  </a:tcPr>
                </a:tc>
                <a:tc>
                  <a:txBody>
                    <a:bodyPr wrap="square"/>
                    <a:lstStyle/>
                    <a:p>
                      <a:r>
                        <a:rPr sz="1000">
                          <a:solidFill>
                            <a:srgbClr val="262B2F"/>
                          </a:solidFill>
                          <a:latin typeface="Arial"/>
                        </a:rPr>
                        <a:t>11.1×</a:t>
                      </a:r>
                    </a:p>
                  </a:txBody>
                  <a:tcPr anchor="ctr" marT="12700" marB="12700" marL="63500" marR="63500">
                    <a:solidFill>
                      <a:srgbClr val="FFFFFF"/>
                    </a:solidFill>
                  </a:tcPr>
                </a:tc>
                <a:tc>
                  <a:txBody>
                    <a:bodyPr wrap="square"/>
                    <a:lstStyle/>
                    <a:p>
                      <a:r>
                        <a:rPr sz="1000">
                          <a:solidFill>
                            <a:srgbClr val="262B2F"/>
                          </a:solidFill>
                          <a:latin typeface="Arial"/>
                        </a:rPr>
                        <a:t>19.1 GB</a:t>
                      </a:r>
                    </a:p>
                  </a:txBody>
                  <a:tcPr anchor="ctr" marT="12700" marB="12700" marL="63500" marR="63500">
                    <a:solidFill>
                      <a:srgbClr val="FFFFFF"/>
                    </a:solidFill>
                  </a:tcPr>
                </a:tc>
              </a:tr>
              <a:tr h="205740">
                <a:tc>
                  <a:txBody>
                    <a:bodyPr wrap="square"/>
                    <a:lstStyle/>
                    <a:p>
                      <a:r>
                        <a:rPr sz="1000">
                          <a:solidFill>
                            <a:srgbClr val="262B2F"/>
                          </a:solidFill>
                          <a:latin typeface="Arial"/>
                        </a:rPr>
                        <a:t>corr=0.90, k=50</a:t>
                      </a:r>
                    </a:p>
                  </a:txBody>
                  <a:tcPr anchor="ctr" marT="12700" marB="12700" marL="63500" marR="63500">
                    <a:solidFill>
                      <a:srgbClr val="FFFFFF"/>
                    </a:solidFill>
                  </a:tcPr>
                </a:tc>
                <a:tc>
                  <a:txBody>
                    <a:bodyPr wrap="square"/>
                    <a:lstStyle/>
                    <a:p>
                      <a:r>
                        <a:rPr sz="1000">
                          <a:solidFill>
                            <a:srgbClr val="262B2F"/>
                          </a:solidFill>
                          <a:latin typeface="Arial"/>
                        </a:rPr>
                        <a:t>5794.2</a:t>
                      </a:r>
                    </a:p>
                  </a:txBody>
                  <a:tcPr anchor="ctr" marT="12700" marB="12700" marL="63500" marR="63500">
                    <a:solidFill>
                      <a:srgbClr val="FFFFFF"/>
                    </a:solidFill>
                  </a:tcPr>
                </a:tc>
                <a:tc>
                  <a:txBody>
                    <a:bodyPr wrap="square"/>
                    <a:lstStyle/>
                    <a:p>
                      <a:r>
                        <a:rPr sz="1000">
                          <a:solidFill>
                            <a:srgbClr val="262B2F"/>
                          </a:solidFill>
                          <a:latin typeface="Arial"/>
                        </a:rPr>
                        <a:t>375.3</a:t>
                      </a:r>
                    </a:p>
                  </a:txBody>
                  <a:tcPr anchor="ctr" marT="12700" marB="12700" marL="63500" marR="63500">
                    <a:solidFill>
                      <a:srgbClr val="FFFFFF"/>
                    </a:solidFill>
                  </a:tcPr>
                </a:tc>
                <a:tc>
                  <a:txBody>
                    <a:bodyPr wrap="square"/>
                    <a:lstStyle/>
                    <a:p>
                      <a:r>
                        <a:rPr sz="1000">
                          <a:solidFill>
                            <a:srgbClr val="262B2F"/>
                          </a:solidFill>
                          <a:latin typeface="Arial"/>
                        </a:rPr>
                        <a:t>15.4×</a:t>
                      </a:r>
                    </a:p>
                  </a:txBody>
                  <a:tcPr anchor="ctr" marT="12700" marB="12700" marL="63500" marR="63500">
                    <a:solidFill>
                      <a:srgbClr val="FFFFFF"/>
                    </a:solidFill>
                  </a:tcPr>
                </a:tc>
                <a:tc>
                  <a:txBody>
                    <a:bodyPr wrap="square"/>
                    <a:lstStyle/>
                    <a:p>
                      <a:r>
                        <a:rPr sz="1000">
                          <a:solidFill>
                            <a:srgbClr val="262B2F"/>
                          </a:solidFill>
                          <a:latin typeface="Arial"/>
                        </a:rPr>
                        <a:t>17.0 GB</a:t>
                      </a:r>
                    </a:p>
                  </a:txBody>
                  <a:tcPr anchor="ctr" marT="12700" marB="12700" marL="63500" marR="63500">
                    <a:solidFill>
                      <a:srgbClr val="FFFFFF"/>
                    </a:solidFill>
                  </a:tcPr>
                </a:tc>
              </a:tr>
              <a:tr h="205740">
                <a:tc>
                  <a:txBody>
                    <a:bodyPr wrap="square"/>
                    <a:lstStyle/>
                    <a:p>
                      <a:r>
                        <a:rPr sz="1000">
                          <a:solidFill>
                            <a:srgbClr val="262B2F"/>
                          </a:solidFill>
                          <a:latin typeface="Arial"/>
                        </a:rPr>
                        <a:t>corr=0.90, k=None</a:t>
                      </a:r>
                    </a:p>
                  </a:txBody>
                  <a:tcPr anchor="ctr" marT="12700" marB="12700" marL="63500" marR="63500">
                    <a:solidFill>
                      <a:srgbClr val="FFFFFF"/>
                    </a:solidFill>
                  </a:tcPr>
                </a:tc>
                <a:tc>
                  <a:txBody>
                    <a:bodyPr wrap="square"/>
                    <a:lstStyle/>
                    <a:p>
                      <a:r>
                        <a:rPr sz="1000">
                          <a:solidFill>
                            <a:srgbClr val="262B2F"/>
                          </a:solidFill>
                          <a:latin typeface="Arial"/>
                        </a:rPr>
                        <a:t>6315.9</a:t>
                      </a:r>
                    </a:p>
                  </a:txBody>
                  <a:tcPr anchor="ctr" marT="12700" marB="12700" marL="63500" marR="63500">
                    <a:solidFill>
                      <a:srgbClr val="FFFFFF"/>
                    </a:solidFill>
                  </a:tcPr>
                </a:tc>
                <a:tc>
                  <a:txBody>
                    <a:bodyPr wrap="square"/>
                    <a:lstStyle/>
                    <a:p>
                      <a:r>
                        <a:rPr sz="1000">
                          <a:solidFill>
                            <a:srgbClr val="262B2F"/>
                          </a:solidFill>
                          <a:latin typeface="Arial"/>
                        </a:rPr>
                        <a:t>359.0</a:t>
                      </a:r>
                    </a:p>
                  </a:txBody>
                  <a:tcPr anchor="ctr" marT="12700" marB="12700" marL="63500" marR="63500">
                    <a:solidFill>
                      <a:srgbClr val="FFFFFF"/>
                    </a:solidFill>
                  </a:tcPr>
                </a:tc>
                <a:tc>
                  <a:txBody>
                    <a:bodyPr wrap="square"/>
                    <a:lstStyle/>
                    <a:p>
                      <a:r>
                        <a:rPr sz="1000">
                          <a:solidFill>
                            <a:srgbClr val="262B2F"/>
                          </a:solidFill>
                          <a:latin typeface="Arial"/>
                        </a:rPr>
                        <a:t>17.6×</a:t>
                      </a:r>
                    </a:p>
                  </a:txBody>
                  <a:tcPr anchor="ctr" marT="12700" marB="12700" marL="63500" marR="63500">
                    <a:solidFill>
                      <a:srgbClr val="FFFFFF"/>
                    </a:solidFill>
                  </a:tcPr>
                </a:tc>
                <a:tc>
                  <a:txBody>
                    <a:bodyPr wrap="square"/>
                    <a:lstStyle/>
                    <a:p>
                      <a:r>
                        <a:rPr sz="1000">
                          <a:solidFill>
                            <a:srgbClr val="262B2F"/>
                          </a:solidFill>
                          <a:latin typeface="Arial"/>
                        </a:rPr>
                        <a:t>17.4 GB</a:t>
                      </a:r>
                    </a:p>
                  </a:txBody>
                  <a:tcPr anchor="ctr" marT="12700" marB="12700" marL="63500" marR="63500">
                    <a:solidFill>
                      <a:srgbClr val="FFFFFF"/>
                    </a:solidFill>
                  </a:tcPr>
                </a:tc>
              </a:tr>
              <a:tr h="205740">
                <a:tc>
                  <a:txBody>
                    <a:bodyPr wrap="square"/>
                    <a:lstStyle/>
                    <a:p>
                      <a:r>
                        <a:rPr sz="1000">
                          <a:solidFill>
                            <a:srgbClr val="262B2F"/>
                          </a:solidFill>
                          <a:latin typeface="Arial"/>
                        </a:rPr>
                        <a:t>corr=None, k=30</a:t>
                      </a:r>
                    </a:p>
                  </a:txBody>
                  <a:tcPr anchor="ctr" marT="12700" marB="12700" marL="63500" marR="63500">
                    <a:solidFill>
                      <a:srgbClr val="FFFFFF"/>
                    </a:solidFill>
                  </a:tcPr>
                </a:tc>
                <a:tc>
                  <a:txBody>
                    <a:bodyPr wrap="square"/>
                    <a:lstStyle/>
                    <a:p>
                      <a:r>
                        <a:rPr sz="1000">
                          <a:solidFill>
                            <a:srgbClr val="262B2F"/>
                          </a:solidFill>
                          <a:latin typeface="Arial"/>
                        </a:rPr>
                        <a:t>4567.2</a:t>
                      </a:r>
                    </a:p>
                  </a:txBody>
                  <a:tcPr anchor="ctr" marT="12700" marB="12700" marL="63500" marR="63500">
                    <a:solidFill>
                      <a:srgbClr val="FFFFFF"/>
                    </a:solidFill>
                  </a:tcPr>
                </a:tc>
                <a:tc>
                  <a:txBody>
                    <a:bodyPr wrap="square"/>
                    <a:lstStyle/>
                    <a:p>
                      <a:r>
                        <a:rPr sz="1000">
                          <a:solidFill>
                            <a:srgbClr val="262B2F"/>
                          </a:solidFill>
                          <a:latin typeface="Arial"/>
                        </a:rPr>
                        <a:t>415.6</a:t>
                      </a:r>
                    </a:p>
                  </a:txBody>
                  <a:tcPr anchor="ctr" marT="12700" marB="12700" marL="63500" marR="63500">
                    <a:solidFill>
                      <a:srgbClr val="FFFFFF"/>
                    </a:solidFill>
                  </a:tcPr>
                </a:tc>
                <a:tc>
                  <a:txBody>
                    <a:bodyPr wrap="square"/>
                    <a:lstStyle/>
                    <a:p>
                      <a:r>
                        <a:rPr sz="1000">
                          <a:solidFill>
                            <a:srgbClr val="262B2F"/>
                          </a:solidFill>
                          <a:latin typeface="Arial"/>
                        </a:rPr>
                        <a:t>11.0×</a:t>
                      </a:r>
                    </a:p>
                  </a:txBody>
                  <a:tcPr anchor="ctr" marT="12700" marB="12700" marL="63500" marR="63500">
                    <a:solidFill>
                      <a:srgbClr val="FFFFFF"/>
                    </a:solidFill>
                  </a:tcPr>
                </a:tc>
                <a:tc>
                  <a:txBody>
                    <a:bodyPr wrap="square"/>
                    <a:lstStyle/>
                    <a:p>
                      <a:r>
                        <a:rPr sz="1000">
                          <a:solidFill>
                            <a:srgbClr val="262B2F"/>
                          </a:solidFill>
                          <a:latin typeface="Arial"/>
                        </a:rPr>
                        <a:t>20.4 GB</a:t>
                      </a:r>
                    </a:p>
                  </a:txBody>
                  <a:tcPr anchor="ctr" marT="12700" marB="12700" marL="63500" marR="63500">
                    <a:solidFill>
                      <a:srgbClr val="FFFFFF"/>
                    </a:solidFill>
                  </a:tcPr>
                </a:tc>
              </a:tr>
              <a:tr h="205740">
                <a:tc>
                  <a:txBody>
                    <a:bodyPr wrap="square"/>
                    <a:lstStyle/>
                    <a:p>
                      <a:r>
                        <a:rPr sz="1000">
                          <a:solidFill>
                            <a:srgbClr val="262B2F"/>
                          </a:solidFill>
                          <a:latin typeface="Arial"/>
                        </a:rPr>
                        <a:t>corr=None, k=50</a:t>
                      </a:r>
                    </a:p>
                  </a:txBody>
                  <a:tcPr anchor="ctr" marT="12700" marB="12700" marL="63500" marR="63500">
                    <a:solidFill>
                      <a:srgbClr val="FFFFFF"/>
                    </a:solidFill>
                  </a:tcPr>
                </a:tc>
                <a:tc>
                  <a:txBody>
                    <a:bodyPr wrap="square"/>
                    <a:lstStyle/>
                    <a:p>
                      <a:r>
                        <a:rPr sz="1000">
                          <a:solidFill>
                            <a:srgbClr val="262B2F"/>
                          </a:solidFill>
                          <a:latin typeface="Arial"/>
                        </a:rPr>
                        <a:t>5602.4</a:t>
                      </a:r>
                    </a:p>
                  </a:txBody>
                  <a:tcPr anchor="ctr" marT="12700" marB="12700" marL="63500" marR="63500">
                    <a:solidFill>
                      <a:srgbClr val="FFFFFF"/>
                    </a:solidFill>
                  </a:tcPr>
                </a:tc>
                <a:tc>
                  <a:txBody>
                    <a:bodyPr wrap="square"/>
                    <a:lstStyle/>
                    <a:p>
                      <a:r>
                        <a:rPr sz="1000">
                          <a:solidFill>
                            <a:srgbClr val="262B2F"/>
                          </a:solidFill>
                          <a:latin typeface="Arial"/>
                        </a:rPr>
                        <a:t>356.7</a:t>
                      </a:r>
                    </a:p>
                  </a:txBody>
                  <a:tcPr anchor="ctr" marT="12700" marB="12700" marL="63500" marR="63500">
                    <a:solidFill>
                      <a:srgbClr val="FFFFFF"/>
                    </a:solidFill>
                  </a:tcPr>
                </a:tc>
                <a:tc>
                  <a:txBody>
                    <a:bodyPr wrap="square"/>
                    <a:lstStyle/>
                    <a:p>
                      <a:r>
                        <a:rPr sz="1000">
                          <a:solidFill>
                            <a:srgbClr val="262B2F"/>
                          </a:solidFill>
                          <a:latin typeface="Arial"/>
                        </a:rPr>
                        <a:t>15.7×</a:t>
                      </a:r>
                    </a:p>
                  </a:txBody>
                  <a:tcPr anchor="ctr" marT="12700" marB="12700" marL="63500" marR="63500">
                    <a:solidFill>
                      <a:srgbClr val="FFFFFF"/>
                    </a:solidFill>
                  </a:tcPr>
                </a:tc>
                <a:tc>
                  <a:txBody>
                    <a:bodyPr wrap="square"/>
                    <a:lstStyle/>
                    <a:p>
                      <a:r>
                        <a:rPr sz="1000">
                          <a:solidFill>
                            <a:srgbClr val="262B2F"/>
                          </a:solidFill>
                          <a:latin typeface="Arial"/>
                        </a:rPr>
                        <a:t>17.5 GB</a:t>
                      </a:r>
                    </a:p>
                  </a:txBody>
                  <a:tcPr anchor="ctr" marT="12700" marB="12700" marL="63500" marR="63500">
                    <a:solidFill>
                      <a:srgbClr val="FFFFFF"/>
                    </a:solidFill>
                  </a:tcPr>
                </a:tc>
              </a:tr>
              <a:tr h="205740">
                <a:tc>
                  <a:txBody>
                    <a:bodyPr wrap="square"/>
                    <a:lstStyle/>
                    <a:p>
                      <a:r>
                        <a:rPr sz="1000" b="1">
                          <a:solidFill>
                            <a:srgbClr val="262B2F"/>
                          </a:solidFill>
                          <a:latin typeface="Arial"/>
                        </a:rPr>
                        <a:t>corr=None, k=None</a:t>
                      </a:r>
                    </a:p>
                  </a:txBody>
                  <a:tcPr anchor="ctr" marT="12700" marB="12700" marL="63500" marR="63500">
                    <a:solidFill>
                      <a:srgbClr val="FFE3C1"/>
                    </a:solidFill>
                  </a:tcPr>
                </a:tc>
                <a:tc>
                  <a:txBody>
                    <a:bodyPr wrap="square"/>
                    <a:lstStyle/>
                    <a:p>
                      <a:r>
                        <a:rPr sz="1000" b="1">
                          <a:solidFill>
                            <a:srgbClr val="262B2F"/>
                          </a:solidFill>
                          <a:latin typeface="Arial"/>
                        </a:rPr>
                        <a:t>7962.4</a:t>
                      </a:r>
                    </a:p>
                  </a:txBody>
                  <a:tcPr anchor="ctr" marT="12700" marB="12700" marL="63500" marR="63500">
                    <a:solidFill>
                      <a:srgbClr val="FFE3C1"/>
                    </a:solidFill>
                  </a:tcPr>
                </a:tc>
                <a:tc>
                  <a:txBody>
                    <a:bodyPr wrap="square"/>
                    <a:lstStyle/>
                    <a:p>
                      <a:r>
                        <a:rPr sz="1000" b="1">
                          <a:solidFill>
                            <a:srgbClr val="262B2F"/>
                          </a:solidFill>
                          <a:latin typeface="Arial"/>
                        </a:rPr>
                        <a:t>339.4</a:t>
                      </a:r>
                    </a:p>
                  </a:txBody>
                  <a:tcPr anchor="ctr" marT="12700" marB="12700" marL="63500" marR="63500">
                    <a:solidFill>
                      <a:srgbClr val="FFE3C1"/>
                    </a:solidFill>
                  </a:tcPr>
                </a:tc>
                <a:tc>
                  <a:txBody>
                    <a:bodyPr wrap="square"/>
                    <a:lstStyle/>
                    <a:p>
                      <a:r>
                        <a:rPr sz="1000" b="1">
                          <a:solidFill>
                            <a:srgbClr val="262B2F"/>
                          </a:solidFill>
                          <a:latin typeface="Arial"/>
                        </a:rPr>
                        <a:t>23.5×</a:t>
                      </a:r>
                    </a:p>
                  </a:txBody>
                  <a:tcPr anchor="ctr" marT="12700" marB="12700" marL="63500" marR="63500">
                    <a:solidFill>
                      <a:srgbClr val="FFE3C1"/>
                    </a:solidFill>
                  </a:tcPr>
                </a:tc>
                <a:tc>
                  <a:txBody>
                    <a:bodyPr wrap="square"/>
                    <a:lstStyle/>
                    <a:p>
                      <a:r>
                        <a:rPr sz="1000" b="1">
                          <a:solidFill>
                            <a:srgbClr val="262B2F"/>
                          </a:solidFill>
                          <a:latin typeface="Arial"/>
                        </a:rPr>
                        <a:t>16.3 GB</a:t>
                      </a:r>
                    </a:p>
                  </a:txBody>
                  <a:tcPr anchor="ctr" marT="12700" marB="12700" marL="63500" marR="63500">
                    <a:solidFill>
                      <a:srgbClr val="FFE3C1"/>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Cache Viability Ranking (η, 15 models)</a:t>
            </a:r>
          </a:p>
        </p:txBody>
      </p:sp>
      <p:pic>
        <p:nvPicPr>
          <p:cNvPr id="3" name="Picture 2" descr="viability_rank.png"/>
          <p:cNvPicPr>
            <a:picLocks noChangeAspect="1"/>
          </p:cNvPicPr>
          <p:nvPr/>
        </p:nvPicPr>
        <p:blipFill>
          <a:blip r:embed="rId2"/>
          <a:stretch>
            <a:fillRect/>
          </a:stretch>
        </p:blipFill>
        <p:spPr>
          <a:xfrm>
            <a:off x="2605850" y="1554480"/>
            <a:ext cx="6949819" cy="4114800"/>
          </a:xfrm>
          <a:prstGeom prst="rect">
            <a:avLst/>
          </a:prstGeom>
        </p:spPr>
      </p:pic>
      <p:sp>
        <p:nvSpPr>
          <p:cNvPr id="4" name="TextBox 3"/>
          <p:cNvSpPr txBox="1"/>
          <p:nvPr/>
        </p:nvSpPr>
        <p:spPr>
          <a:xfrm>
            <a:off x="1280160" y="5760720"/>
            <a:ext cx="9601200" cy="365760"/>
          </a:xfrm>
          <a:prstGeom prst="rect">
            <a:avLst/>
          </a:prstGeom>
          <a:noFill/>
        </p:spPr>
        <p:txBody>
          <a:bodyPr wrap="square">
            <a:spAutoFit/>
          </a:bodyPr>
          <a:lstStyle/>
          <a:p>
            <a:pPr algn="ctr"/>
            <a:r>
              <a:rPr sz="1200" i="1">
                <a:solidFill>
                  <a:srgbClr val="768692"/>
                </a:solidFill>
              </a:rPr>
              <a:t>η = seconds of compute saved per MB stored. Blue viable (η &gt; 2), orange not viable (η &lt; 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Confusion Matrix (best XGBoost)</a:t>
            </a:r>
          </a:p>
        </p:txBody>
      </p:sp>
      <p:pic>
        <p:nvPicPr>
          <p:cNvPr id="3" name="Picture 2" descr="confusion.png"/>
          <p:cNvPicPr>
            <a:picLocks noChangeAspect="1"/>
          </p:cNvPicPr>
          <p:nvPr/>
        </p:nvPicPr>
        <p:blipFill>
          <a:blip r:embed="rId2"/>
          <a:stretch>
            <a:fillRect/>
          </a:stretch>
        </p:blipFill>
        <p:spPr>
          <a:xfrm>
            <a:off x="1645196" y="1554480"/>
            <a:ext cx="8871127" cy="4114800"/>
          </a:xfrm>
          <a:prstGeom prst="rect">
            <a:avLst/>
          </a:prstGeom>
        </p:spPr>
      </p:pic>
      <p:sp>
        <p:nvSpPr>
          <p:cNvPr id="4" name="TextBox 3"/>
          <p:cNvSpPr txBox="1"/>
          <p:nvPr/>
        </p:nvSpPr>
        <p:spPr>
          <a:xfrm>
            <a:off x="1280160" y="5760720"/>
            <a:ext cx="9601200" cy="365760"/>
          </a:xfrm>
          <a:prstGeom prst="rect">
            <a:avLst/>
          </a:prstGeom>
          <a:noFill/>
        </p:spPr>
        <p:txBody>
          <a:bodyPr wrap="square">
            <a:spAutoFit/>
          </a:bodyPr>
          <a:lstStyle/>
          <a:p>
            <a:pPr algn="ctr"/>
            <a:r>
              <a:rPr sz="1200" i="1">
                <a:solidFill>
                  <a:srgbClr val="768692"/>
                </a:solidFill>
              </a:rPr>
              <a:t>Aggregated 5×5 confusion across all 128 LOSO folds; right panel row-normalised (recall).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Global vs. Per-Fold Feature Selection</a:t>
            </a:r>
          </a:p>
        </p:txBody>
      </p:sp>
      <p:graphicFrame>
        <p:nvGraphicFramePr>
          <p:cNvPr id="3" name="Table 2"/>
          <p:cNvGraphicFramePr>
            <a:graphicFrameLocks noGrp="1"/>
          </p:cNvGraphicFramePr>
          <p:nvPr/>
        </p:nvGraphicFramePr>
        <p:xfrm>
          <a:off x="822960" y="1737360"/>
          <a:ext cx="10515600" cy="3657600"/>
        </p:xfrm>
        <a:graphic>
          <a:graphicData uri="http://schemas.openxmlformats.org/drawingml/2006/table">
            <a:tbl>
              <a:tblPr firstRow="1" bandRow="1">
                <a:tableStyleId>{5C22544A-7EE6-4342-B048-85BDC9FD1C3A}</a:tableStyleId>
              </a:tblPr>
              <a:tblGrid>
                <a:gridCol w="3657600"/>
                <a:gridCol w="3429000"/>
                <a:gridCol w="3429000"/>
              </a:tblGrid>
              <a:tr h="457200">
                <a:tc>
                  <a:txBody>
                    <a:bodyPr wrap="square"/>
                    <a:lstStyle/>
                    <a:p>
                      <a:r>
                        <a:rPr sz="1500" b="1">
                          <a:solidFill>
                            <a:srgbClr val="FFFFFF"/>
                          </a:solidFill>
                          <a:latin typeface="Arial"/>
                        </a:rPr>
                        <a:t>Aspect</a:t>
                      </a:r>
                    </a:p>
                  </a:txBody>
                  <a:tcPr anchor="ctr" marT="12700" marB="12700" marL="63500" marR="63500">
                    <a:solidFill>
                      <a:srgbClr val="FF9E1B"/>
                    </a:solidFill>
                  </a:tcPr>
                </a:tc>
                <a:tc>
                  <a:txBody>
                    <a:bodyPr wrap="square"/>
                    <a:lstStyle/>
                    <a:p>
                      <a:r>
                        <a:rPr sz="1500" b="1">
                          <a:solidFill>
                            <a:srgbClr val="FFFFFF"/>
                          </a:solidFill>
                          <a:latin typeface="Arial"/>
                        </a:rPr>
                        <a:t>Global (chosen)</a:t>
                      </a:r>
                    </a:p>
                  </a:txBody>
                  <a:tcPr anchor="ctr" marT="12700" marB="12700" marL="63500" marR="63500">
                    <a:solidFill>
                      <a:srgbClr val="FF9E1B"/>
                    </a:solidFill>
                  </a:tcPr>
                </a:tc>
                <a:tc>
                  <a:txBody>
                    <a:bodyPr wrap="square"/>
                    <a:lstStyle/>
                    <a:p>
                      <a:r>
                        <a:rPr sz="1500" b="1">
                          <a:solidFill>
                            <a:srgbClr val="FFFFFF"/>
                          </a:solidFill>
                          <a:latin typeface="Arial"/>
                        </a:rPr>
                        <a:t>Per-Fold</a:t>
                      </a:r>
                    </a:p>
                  </a:txBody>
                  <a:tcPr anchor="ctr" marT="12700" marB="12700" marL="63500" marR="63500">
                    <a:solidFill>
                      <a:srgbClr val="FF9E1B"/>
                    </a:solidFill>
                  </a:tcPr>
                </a:tc>
              </a:tr>
              <a:tr h="457200">
                <a:tc>
                  <a:txBody>
                    <a:bodyPr wrap="square"/>
                    <a:lstStyle/>
                    <a:p>
                      <a:r>
                        <a:rPr sz="1500">
                          <a:solidFill>
                            <a:srgbClr val="262B2F"/>
                          </a:solidFill>
                          <a:latin typeface="Arial"/>
                        </a:rPr>
                        <a:t>Selection fitted on</a:t>
                      </a:r>
                    </a:p>
                  </a:txBody>
                  <a:tcPr anchor="ctr" marT="12700" marB="12700" marL="63500" marR="63500">
                    <a:solidFill>
                      <a:srgbClr val="FFFFFF"/>
                    </a:solidFill>
                  </a:tcPr>
                </a:tc>
                <a:tc>
                  <a:txBody>
                    <a:bodyPr wrap="square"/>
                    <a:lstStyle/>
                    <a:p>
                      <a:r>
                        <a:rPr sz="1500">
                          <a:solidFill>
                            <a:srgbClr val="262B2F"/>
                          </a:solidFill>
                          <a:latin typeface="Arial"/>
                        </a:rPr>
                        <a:t>All subjects (once)</a:t>
                      </a:r>
                    </a:p>
                  </a:txBody>
                  <a:tcPr anchor="ctr" marT="12700" marB="12700" marL="63500" marR="63500">
                    <a:solidFill>
                      <a:srgbClr val="FFFFFF"/>
                    </a:solidFill>
                  </a:tcPr>
                </a:tc>
                <a:tc>
                  <a:txBody>
                    <a:bodyPr wrap="square"/>
                    <a:lstStyle/>
                    <a:p>
                      <a:r>
                        <a:rPr sz="1500">
                          <a:solidFill>
                            <a:srgbClr val="262B2F"/>
                          </a:solidFill>
                          <a:latin typeface="Arial"/>
                        </a:rPr>
                        <a:t>Training fold only</a:t>
                      </a:r>
                    </a:p>
                  </a:txBody>
                  <a:tcPr anchor="ctr" marT="12700" marB="12700" marL="63500" marR="63500">
                    <a:solidFill>
                      <a:srgbClr val="FFFFFF"/>
                    </a:solidFill>
                  </a:tcPr>
                </a:tc>
              </a:tr>
              <a:tr h="457200">
                <a:tc>
                  <a:txBody>
                    <a:bodyPr wrap="square"/>
                    <a:lstStyle/>
                    <a:p>
                      <a:r>
                        <a:rPr sz="1500">
                          <a:solidFill>
                            <a:srgbClr val="262B2F"/>
                          </a:solidFill>
                          <a:latin typeface="Arial"/>
                        </a:rPr>
                        <a:t>Label leakage</a:t>
                      </a:r>
                    </a:p>
                  </a:txBody>
                  <a:tcPr anchor="ctr" marT="12700" marB="12700" marL="63500" marR="63500">
                    <a:solidFill>
                      <a:srgbClr val="FFFFFF"/>
                    </a:solidFill>
                  </a:tcPr>
                </a:tc>
                <a:tc>
                  <a:txBody>
                    <a:bodyPr wrap="square"/>
                    <a:lstStyle/>
                    <a:p>
                      <a:r>
                        <a:rPr sz="1500">
                          <a:solidFill>
                            <a:srgbClr val="262B2F"/>
                          </a:solidFill>
                          <a:latin typeface="Arial"/>
                        </a:rPr>
                        <a:t>1/128 ≈ 0.8%</a:t>
                      </a:r>
                    </a:p>
                  </a:txBody>
                  <a:tcPr anchor="ctr" marT="12700" marB="12700" marL="63500" marR="63500">
                    <a:solidFill>
                      <a:srgbClr val="FFFFFF"/>
                    </a:solidFill>
                  </a:tcPr>
                </a:tc>
                <a:tc>
                  <a:txBody>
                    <a:bodyPr wrap="square"/>
                    <a:lstStyle/>
                    <a:p>
                      <a:r>
                        <a:rPr sz="1500">
                          <a:solidFill>
                            <a:srgbClr val="262B2F"/>
                          </a:solidFill>
                          <a:latin typeface="Arial"/>
                        </a:rPr>
                        <a:t>None</a:t>
                      </a:r>
                    </a:p>
                  </a:txBody>
                  <a:tcPr anchor="ctr" marT="12700" marB="12700" marL="63500" marR="63500">
                    <a:solidFill>
                      <a:srgbClr val="FFFFFF"/>
                    </a:solidFill>
                  </a:tcPr>
                </a:tc>
              </a:tr>
              <a:tr h="457200">
                <a:tc>
                  <a:txBody>
                    <a:bodyPr wrap="square"/>
                    <a:lstStyle/>
                    <a:p>
                      <a:r>
                        <a:rPr sz="1500" b="1">
                          <a:solidFill>
                            <a:srgbClr val="262B2F"/>
                          </a:solidFill>
                          <a:latin typeface="Arial"/>
                        </a:rPr>
                        <a:t>Accuracy difference</a:t>
                      </a:r>
                    </a:p>
                  </a:txBody>
                  <a:tcPr anchor="ctr" marT="12700" marB="12700" marL="63500" marR="63500">
                    <a:solidFill>
                      <a:srgbClr val="FFE3C1"/>
                    </a:solidFill>
                  </a:tcPr>
                </a:tc>
                <a:tc>
                  <a:txBody>
                    <a:bodyPr wrap="square"/>
                    <a:lstStyle/>
                    <a:p>
                      <a:r>
                        <a:rPr sz="1500" b="1">
                          <a:solidFill>
                            <a:srgbClr val="262B2F"/>
                          </a:solidFill>
                          <a:latin typeface="Arial"/>
                        </a:rPr>
                        <a:t>±0.4% mean, ≤1.1% max</a:t>
                      </a:r>
                    </a:p>
                  </a:txBody>
                  <a:tcPr anchor="ctr" marT="12700" marB="12700" marL="63500" marR="63500">
                    <a:solidFill>
                      <a:srgbClr val="FFE3C1"/>
                    </a:solidFill>
                  </a:tcPr>
                </a:tc>
                <a:tc>
                  <a:txBody>
                    <a:bodyPr wrap="square"/>
                    <a:lstStyle/>
                    <a:p>
                      <a:r>
                        <a:rPr sz="1500" b="1">
                          <a:solidFill>
                            <a:srgbClr val="262B2F"/>
                          </a:solidFill>
                          <a:latin typeface="Arial"/>
                        </a:rPr>
                        <a:t>Baseline</a:t>
                      </a:r>
                    </a:p>
                  </a:txBody>
                  <a:tcPr anchor="ctr" marT="12700" marB="12700" marL="63500" marR="63500">
                    <a:solidFill>
                      <a:srgbClr val="FFE3C1"/>
                    </a:solidFill>
                  </a:tcPr>
                </a:tc>
              </a:tr>
              <a:tr h="457200">
                <a:tc>
                  <a:txBody>
                    <a:bodyPr wrap="square"/>
                    <a:lstStyle/>
                    <a:p>
                      <a:r>
                        <a:rPr sz="1500">
                          <a:solidFill>
                            <a:srgbClr val="262B2F"/>
                          </a:solidFill>
                          <a:latin typeface="Arial"/>
                        </a:rPr>
                        <a:t>XGBoost warm speedup</a:t>
                      </a:r>
                    </a:p>
                  </a:txBody>
                  <a:tcPr anchor="ctr" marT="12700" marB="12700" marL="63500" marR="63500">
                    <a:solidFill>
                      <a:srgbClr val="FFFFFF"/>
                    </a:solidFill>
                  </a:tcPr>
                </a:tc>
                <a:tc>
                  <a:txBody>
                    <a:bodyPr wrap="square"/>
                    <a:lstStyle/>
                    <a:p>
                      <a:r>
                        <a:rPr sz="1500">
                          <a:solidFill>
                            <a:srgbClr val="262B2F"/>
                          </a:solidFill>
                          <a:latin typeface="Arial"/>
                        </a:rPr>
                        <a:t>14–23×</a:t>
                      </a:r>
                    </a:p>
                  </a:txBody>
                  <a:tcPr anchor="ctr" marT="12700" marB="12700" marL="63500" marR="63500">
                    <a:solidFill>
                      <a:srgbClr val="FFFFFF"/>
                    </a:solidFill>
                  </a:tcPr>
                </a:tc>
                <a:tc>
                  <a:txBody>
                    <a:bodyPr wrap="square"/>
                    <a:lstStyle/>
                    <a:p>
                      <a:r>
                        <a:rPr sz="1500">
                          <a:solidFill>
                            <a:srgbClr val="262B2F"/>
                          </a:solidFill>
                          <a:latin typeface="Arial"/>
                        </a:rPr>
                        <a:t>4–9×</a:t>
                      </a:r>
                    </a:p>
                  </a:txBody>
                  <a:tcPr anchor="ctr" marT="12700" marB="12700" marL="63500" marR="63500">
                    <a:solidFill>
                      <a:srgbClr val="FFFFFF"/>
                    </a:solidFill>
                  </a:tcPr>
                </a:tc>
              </a:tr>
              <a:tr h="457200">
                <a:tc>
                  <a:txBody>
                    <a:bodyPr wrap="square"/>
                    <a:lstStyle/>
                    <a:p>
                      <a:r>
                        <a:rPr sz="1500">
                          <a:solidFill>
                            <a:srgbClr val="262B2F"/>
                          </a:solidFill>
                          <a:latin typeface="Arial"/>
                        </a:rPr>
                        <a:t>RF warm speedup</a:t>
                      </a:r>
                    </a:p>
                  </a:txBody>
                  <a:tcPr anchor="ctr" marT="12700" marB="12700" marL="63500" marR="63500">
                    <a:solidFill>
                      <a:srgbClr val="FFFFFF"/>
                    </a:solidFill>
                  </a:tcPr>
                </a:tc>
                <a:tc>
                  <a:txBody>
                    <a:bodyPr wrap="square"/>
                    <a:lstStyle/>
                    <a:p>
                      <a:r>
                        <a:rPr sz="1500">
                          <a:solidFill>
                            <a:srgbClr val="262B2F"/>
                          </a:solidFill>
                          <a:latin typeface="Arial"/>
                        </a:rPr>
                        <a:t>3–5×</a:t>
                      </a:r>
                    </a:p>
                  </a:txBody>
                  <a:tcPr anchor="ctr" marT="12700" marB="12700" marL="63500" marR="63500">
                    <a:solidFill>
                      <a:srgbClr val="FFFFFF"/>
                    </a:solidFill>
                  </a:tcPr>
                </a:tc>
                <a:tc>
                  <a:txBody>
                    <a:bodyPr wrap="square"/>
                    <a:lstStyle/>
                    <a:p>
                      <a:r>
                        <a:rPr sz="1500">
                          <a:solidFill>
                            <a:srgbClr val="262B2F"/>
                          </a:solidFill>
                          <a:latin typeface="Arial"/>
                        </a:rPr>
                        <a:t>2.5–2.8×</a:t>
                      </a:r>
                    </a:p>
                  </a:txBody>
                  <a:tcPr anchor="ctr" marT="12700" marB="12700" marL="63500" marR="63500">
                    <a:solidFill>
                      <a:srgbClr val="FFFFFF"/>
                    </a:solidFill>
                  </a:tcPr>
                </a:tc>
              </a:tr>
              <a:tr h="457200">
                <a:tc>
                  <a:txBody>
                    <a:bodyPr wrap="square"/>
                    <a:lstStyle/>
                    <a:p>
                      <a:r>
                        <a:rPr sz="1500">
                          <a:solidFill>
                            <a:srgbClr val="262B2F"/>
                          </a:solidFill>
                          <a:latin typeface="Arial"/>
                        </a:rPr>
                        <a:t>Degrades with N?</a:t>
                      </a:r>
                    </a:p>
                  </a:txBody>
                  <a:tcPr anchor="ctr" marT="12700" marB="12700" marL="63500" marR="63500">
                    <a:solidFill>
                      <a:srgbClr val="FFFFFF"/>
                    </a:solidFill>
                  </a:tcPr>
                </a:tc>
                <a:tc>
                  <a:txBody>
                    <a:bodyPr wrap="square"/>
                    <a:lstStyle/>
                    <a:p>
                      <a:r>
                        <a:rPr sz="1500">
                          <a:solidFill>
                            <a:srgbClr val="262B2F"/>
                          </a:solidFill>
                          <a:latin typeface="Arial"/>
                        </a:rPr>
                        <a:t>No (fingerprint stable)</a:t>
                      </a:r>
                    </a:p>
                  </a:txBody>
                  <a:tcPr anchor="ctr" marT="12700" marB="12700" marL="63500" marR="63500">
                    <a:solidFill>
                      <a:srgbClr val="FFFFFF"/>
                    </a:solidFill>
                  </a:tcPr>
                </a:tc>
                <a:tc>
                  <a:txBody>
                    <a:bodyPr wrap="square"/>
                    <a:lstStyle/>
                    <a:p>
                      <a:r>
                        <a:rPr sz="1500">
                          <a:solidFill>
                            <a:srgbClr val="262B2F"/>
                          </a:solidFill>
                          <a:latin typeface="Arial"/>
                        </a:rPr>
                        <a:t>Yes (re-select/fold)</a:t>
                      </a:r>
                    </a:p>
                  </a:txBody>
                  <a:tcPr anchor="ctr" marT="12700" marB="12700" marL="63500" marR="63500">
                    <a:solidFill>
                      <a:srgbClr val="FFFFFF"/>
                    </a:solidFill>
                  </a:tcPr>
                </a:tc>
              </a:tr>
              <a:tr h="457200">
                <a:tc>
                  <a:txBody>
                    <a:bodyPr wrap="square"/>
                    <a:lstStyle/>
                    <a:p>
                      <a:r>
                        <a:rPr sz="1500">
                          <a:solidFill>
                            <a:srgbClr val="262B2F"/>
                          </a:solidFill>
                          <a:latin typeface="Arial"/>
                        </a:rPr>
                        <a:t>Cache key</a:t>
                      </a:r>
                    </a:p>
                  </a:txBody>
                  <a:tcPr anchor="ctr" marT="12700" marB="12700" marL="63500" marR="63500">
                    <a:solidFill>
                      <a:srgbClr val="FFFFFF"/>
                    </a:solidFill>
                  </a:tcPr>
                </a:tc>
                <a:tc>
                  <a:txBody>
                    <a:bodyPr wrap="square"/>
                    <a:lstStyle/>
                    <a:p>
                      <a:r>
                        <a:rPr sz="1500">
                          <a:solidFill>
                            <a:srgbClr val="262B2F"/>
                          </a:solidFill>
                          <a:latin typeface="Arial"/>
                        </a:rPr>
                        <a:t>One per config</a:t>
                      </a:r>
                    </a:p>
                  </a:txBody>
                  <a:tcPr anchor="ctr" marT="12700" marB="12700" marL="63500" marR="63500">
                    <a:solidFill>
                      <a:srgbClr val="FFFFFF"/>
                    </a:solidFill>
                  </a:tcPr>
                </a:tc>
                <a:tc>
                  <a:txBody>
                    <a:bodyPr wrap="square"/>
                    <a:lstStyle/>
                    <a:p>
                      <a:r>
                        <a:rPr sz="1500">
                          <a:solidFill>
                            <a:srgbClr val="262B2F"/>
                          </a:solidFill>
                          <a:latin typeface="Arial"/>
                        </a:rPr>
                        <a:t>One per fold</a:t>
                      </a:r>
                    </a:p>
                  </a:txBody>
                  <a:tcPr anchor="ctr" marT="12700" marB="12700" marL="63500" marR="63500">
                    <a:solidFill>
                      <a:srgbClr val="FFFFFF"/>
                    </a:solidFill>
                  </a:tcPr>
                </a:tc>
              </a:tr>
            </a:tbl>
          </a:graphicData>
        </a:graphic>
      </p:graphicFrame>
      <p:sp>
        <p:nvSpPr>
          <p:cNvPr id="4" name="TextBox 3"/>
          <p:cNvSpPr txBox="1"/>
          <p:nvPr/>
        </p:nvSpPr>
        <p:spPr>
          <a:xfrm>
            <a:off x="822960" y="5623560"/>
            <a:ext cx="10515600" cy="365760"/>
          </a:xfrm>
          <a:prstGeom prst="rect">
            <a:avLst/>
          </a:prstGeom>
          <a:noFill/>
        </p:spPr>
        <p:txBody>
          <a:bodyPr wrap="square">
            <a:spAutoFit/>
          </a:bodyPr>
          <a:lstStyle/>
          <a:p>
            <a:pPr algn="ctr"/>
            <a:r>
              <a:rPr sz="1200" i="1">
                <a:solidFill>
                  <a:srgbClr val="768692"/>
                </a:solidFill>
              </a:rPr>
              <a:t>Global selection retains the cache speedup; measured accuracy impact ≤1.1% with no consistent direction.</a:t>
            </a:r>
          </a:p>
        </p:txBody>
      </p:sp>
    </p:spTree>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K16_IMC_University of Applied Sciences_Master_V01_Step2-3_JZ.potx" id="{A9C88A37-7579-4282-81DA-CB825925CDD9}" vid="{581FEE8C-078B-432F-818D-792EE54338A3}"/>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83E27456E09B48A25895BFE4669E77" ma:contentTypeVersion="0" ma:contentTypeDescription="Create a new document." ma:contentTypeScope="" ma:versionID="b7fbf12b071be988876e1af66ff50ea6">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61CBC6-B3D0-4347-B55C-8DEF3C513B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05C4301-C29D-407B-9381-82889EE8729E}">
  <ds:schemaRefs>
    <ds:schemaRef ds:uri="http://schemas.microsoft.com/office/2006/metadata/properties"/>
    <ds:schemaRef ds:uri="http://schemas.microsoft.com/office/infopath/2007/PartnerControls"/>
    <ds:schemaRef ds:uri="b9b608ed-55ea-456b-aacf-2e68fc65065e"/>
  </ds:schemaRefs>
</ds:datastoreItem>
</file>

<file path=customXml/itemProps3.xml><?xml version="1.0" encoding="utf-8"?>
<ds:datastoreItem xmlns:ds="http://schemas.openxmlformats.org/officeDocument/2006/customXml" ds:itemID="{E173F5B9-CA92-4B94-AB61-4BBEAEC976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IMC_Master</Template>
  <TotalTime>0</TotalTime>
  <Words>399</Words>
  <Application>Microsoft Office PowerPoint</Application>
  <PresentationFormat>Breitbild</PresentationFormat>
  <Paragraphs>84</Paragraphs>
  <Slides>11</Slides>
  <Notes>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Arial</vt:lpstr>
      <vt:lpstr>Cambria</vt:lpstr>
      <vt:lpstr>IMC University of Applied Sciences</vt:lpstr>
      <vt:lpstr>PowerPoint-Präsentation</vt:lpstr>
      <vt:lpstr>Outline</vt:lpstr>
      <vt:lpstr>Motivation</vt:lpstr>
      <vt:lpstr>State of the art</vt:lpstr>
      <vt:lpstr>Model</vt:lpstr>
      <vt:lpstr>Implementation</vt:lpstr>
      <vt:lpstr>Results a </vt:lpstr>
      <vt:lpstr>Results b </vt:lpstr>
      <vt:lpstr>Conclusion</vt:lpstr>
      <vt:lpstr>THANK YOU</vt:lpstr>
      <vt:lpstr>Backup Slide</vt:lpstr>
    </vt:vector>
  </TitlesOfParts>
  <Company>IMC Krems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Informatics</dc:title>
  <dc:creator>Sarita Paudel</dc:creator>
  <cp:lastModifiedBy>Lennart Gorzel</cp:lastModifiedBy>
  <cp:revision>33</cp:revision>
  <dcterms:created xsi:type="dcterms:W3CDTF">2023-08-25T11:40:22Z</dcterms:created>
  <dcterms:modified xsi:type="dcterms:W3CDTF">2026-06-08T23:15:28Z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0x010100DD83E27456E09B48A25895BFE4669E77</vt:lpwstr>
  </property>
</Properties>
</file>