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Pick ONE strategy for the actual defense; do not present all three.</a:t>
            </a:r>
          </a:p>
          <a:p>
            <a:r>
              <a:t>• All three strategies are 7 minutes total and follow the same outline.</a:t>
            </a:r>
          </a:p>
          <a:p>
            <a:r>
              <a:t>• Speaker notes for each slide live in this notes pane.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Open verbatim: 'I run an experiment. Nine hours. I change one number. Another nine hours.'</a:t>
            </a:r>
          </a:p>
          <a:p>
            <a:r>
              <a:t>• Let the 2,304 number land. Pause.</a:t>
            </a:r>
          </a:p>
          <a:p>
            <a:r>
              <a:t>• Don't define LOSO yet — say 'standard cross-validation'.</a:t>
            </a:r>
          </a:p>
          <a:p>
            <a:r>
              <a:t>• Close: 'This isn't a model problem. It's a pipeline problem.'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Three lines, one per tool. Then the gap.</a:t>
            </a:r>
          </a:p>
          <a:p>
            <a:r>
              <a:t>• Do NOT mention your combination. Just point at the gap.</a:t>
            </a:r>
          </a:p>
          <a:p>
            <a:r>
              <a:t>• Transition: 'The parts exist. Assembling them safely doesn't.'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Anchor word: 'identity'. Return to it.</a:t>
            </a:r>
          </a:p>
          <a:p>
            <a:r>
              <a:t>• Say 'fingerprint' instead of 'hash function' for the non-crypto folks.</a:t>
            </a:r>
          </a:p>
          <a:p>
            <a:r>
              <a:t>• Transition: 'That's the concept. Now the wiring.'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Walk through the figure left to right.</a:t>
            </a:r>
          </a:p>
          <a:p>
            <a:r>
              <a:t>• Stop at 'Generate Fingerprint' — that's the novelty.</a:t>
            </a:r>
          </a:p>
          <a:p>
            <a:r>
              <a:t>• Mention: change Stage 3 config → only 3+4 recompute.</a:t>
            </a:r>
          </a:p>
          <a:p>
            <a:r>
              <a:t>• No code, no file tree. Stay on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Read the speedups off the chart. Pause after 54×.</a:t>
            </a:r>
          </a:p>
          <a:p>
            <a:r>
              <a:t>• Lead with speed, then correctness.</a:t>
            </a:r>
          </a:p>
          <a:p>
            <a:r>
              <a:t>• Reframe: 'Nine experiments a day, not 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Closing line: 'Iteration cost was the bottleneck. It isn't anymore.'</a:t>
            </a:r>
          </a:p>
          <a:p>
            <a:r>
              <a:t>• Mention generalization in one breath: any LOSO/k-fold pipeline.</a:t>
            </a:r>
          </a:p>
          <a:p>
            <a:r>
              <a:t>• Stop. Pause. Wait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Open with the hook: 'Cross-validation has a rule: don't touch the held-out subject. Caching has a habit: it remembers everything.'</a:t>
            </a:r>
          </a:p>
          <a:p>
            <a:r>
              <a:t>• Frame as a TRUST problem, not a SPEED problem.</a:t>
            </a:r>
          </a:p>
          <a:p>
            <a:r>
              <a:t>• Transition: 'Can we cache safely?'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Keep fast. The gap is the payoff.</a:t>
            </a:r>
          </a:p>
          <a:p>
            <a:r>
              <a:t>• Last two bullets are the contribution shape. Don't say more yet.</a:t>
            </a:r>
          </a:p>
          <a:p>
            <a:r>
              <a:t>• Transition: 'The boundary between them under cross-validation is missing.'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Emphasize 'by construction' — mathematically guaranteed.</a:t>
            </a:r>
          </a:p>
          <a:p>
            <a:r>
              <a:t>• Slow down here. This is the insight.</a:t>
            </a:r>
          </a:p>
          <a:p>
            <a:r>
              <a:t>• Transition: 'Now the wiring.'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Read the table left column, then right.</a:t>
            </a:r>
          </a:p>
          <a:p>
            <a:r>
              <a:t>• Stop at Stage 4. Say 'this is where safety lives.'</a:t>
            </a:r>
          </a:p>
          <a:p>
            <a:r>
              <a:t>• The caption line summarizes the entire thesis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Present speed first, then correctness — that's the pair this strategy promises.</a:t>
            </a:r>
          </a:p>
          <a:p>
            <a:r>
              <a:t>• 'Zero leakage' is the payoff for the trust framing. Land it.</a:t>
            </a:r>
          </a:p>
          <a:p>
            <a:r>
              <a:t>• Don't rush. This slide proves two things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Open with the contrast — that's the contribution.</a:t>
            </a:r>
          </a:p>
          <a:p>
            <a:r>
              <a:t>• Closing line, slowly: 'Caching, safely, under cross-validation.'</a:t>
            </a:r>
          </a:p>
          <a:p>
            <a:r>
              <a:t>• Stop. Don't summarize the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Open with the hook: 'Nine hours. Then one. Same data, same model, same correctness.'</a:t>
            </a:r>
          </a:p>
          <a:p>
            <a:r>
              <a:t>• Plant the question early — every following slide answers it.</a:t>
            </a:r>
          </a:p>
          <a:p>
            <a:r>
              <a:t>• Numbers-first: result is already on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Fast slide, 45 seconds.</a:t>
            </a:r>
          </a:p>
          <a:p>
            <a:r>
              <a:t>• Don't linger — the audience knows an answer is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Tight, conceptual. No implementation details yet.</a:t>
            </a:r>
          </a:p>
          <a:p>
            <a:r>
              <a:t>• Transition: 'That's the idea. Here's the wiring.'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Walk through the diagram briefly.</a:t>
            </a:r>
          </a:p>
          <a:p>
            <a:r>
              <a:t>• Highlight Stage 4 = safety guarantee.</a:t>
            </a:r>
          </a:p>
          <a:p>
            <a:r>
              <a:t>• Transition: 'Does it deliver on the promise?'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Echo the hook: 'Remember slide one — nine hours, then one.'</a:t>
            </a:r>
          </a:p>
          <a:p>
            <a:r>
              <a:t>• The last bullet closes the story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Echo opening line as closing line.</a:t>
            </a:r>
          </a:p>
          <a:p>
            <a:r>
              <a:t>• Then stop. Pause. Wait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4059936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2560320"/>
            <a:ext cx="4059936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2560320"/>
            <a:ext cx="40690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ML Experiment Optimization via Intelligent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Bachelor Thesis  |  Lennart Gorzel  |  IMC FH Krems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99AA"/>
                </a:solidFill>
              </a:rPr>
              <a:t>Three storytelling strategies  •  5×5 rule  •  7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3566160" cy="13716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Strategy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The Researcher's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3474720"/>
            <a:ext cx="3566160" cy="13716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6B"/>
                </a:solidFill>
              </a:rPr>
              <a:t>Strategy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The Trust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3474720"/>
            <a:ext cx="3566160" cy="13716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5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Strategy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5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Numbers-First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2651760"/>
            <a:ext cx="1205179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Strategy A — The Researcher's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</a:rPr>
              <a:t>First-person pain → unified idea →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Motivation 1:30  •  SOTA 0:45  •  Model 1:00  •  Implementation 1:15  •  Results 1:30  •  Conclusion 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7 min  •  CS committee  •  English  •  5×5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Strategy A — — The Researcher's Day  |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4D8"/>
                </a:solidFill>
              </a:rPr>
              <a:t>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Nine Hours.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128 subjects, 2,304 runs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One run: 9–12 hours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Change one parameter, restart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80% redundant recomputation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Bottleneck: pipeline, not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Strategy A — — The Researcher's Day  |  State of the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4D8"/>
                </a:solidFill>
              </a:rPr>
              <a:t>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Parts Exist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SHA-256 hashing exists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Caching libraries exist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Model serialization exists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None covers cross-validation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Gap: assembling them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Strategy A — — The Researcher's Day  | 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4D8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Identity of a 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All inputs → hash → key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Same inputs, same key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Different inputs, recompute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Stages chained hierarchically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Partial invalidation 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Strategy A — — The Researcher's Day  |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4D8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Four-Stage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Feature data feeds strategy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LOSO split per subject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Fingerprint decides cache hit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Subject ID guards leakage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Hierarchical, partial invalidation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54480"/>
            <a:ext cx="60350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943600" cy="29176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63093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9AA"/>
                </a:solidFill>
              </a:rPr>
              <a:t>Pipeline with fingerprint-based cache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Strategy A — — The Researcher's Day  |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4D8"/>
                </a:solidFill>
              </a:rPr>
              <a:t>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Cold vs Warm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XGBoost: 54× median speedup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Random Forest: 12× speedup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128 LOSO folds tested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100% cache hit rate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Zero leakage detected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54480"/>
            <a:ext cx="60350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_speedu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943600" cy="37685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63093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9AA"/>
                </a:solidFill>
              </a:rPr>
              <a:t>Cold vs warm execution, 128 LOSO folds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Strategy A — — The Researcher's Day  |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4D8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Bottleneck Is Gone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Fingerprint every computation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Cache the stable parts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Recompute only what changed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Nine hours to one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Iteration is unlocked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2651760"/>
            <a:ext cx="12051792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6B6B"/>
                </a:solidFill>
              </a:rPr>
              <a:t>Strategy B — The Trust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</a:rPr>
              <a:t>Correctness framing → gap → fast AND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Motivation 1:00  •  SOTA 0:45  •  Model 1:15  •  Implementation 1:15  •  Results 1:45  •  Conclusion 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7 min  •  CS committee  •  English  •  5×5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Strategy B — — The Trust Problem  |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6B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Speed Easy. Safety Hard.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2,304 runs per experiment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9 hours each, 80% redundant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LOSO demands data isolation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Wrong cache: silent leakage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Real problem: safe caching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Strategy B — — The Trust Problem  |  State of the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6B"/>
                </a:solidFill>
              </a:rPr>
              <a:t>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Building Blocks, No Glue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SHA-256 hashing exists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Caching libraries exist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Model serialization exists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None encodes fold identity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Gap: cross-validation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Strategy B — — The Trust Problem  | 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6B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Identity Includes the Fold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Hash of all inputs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Subject ID inside the hash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Each fold: unique key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Leakage prevented by construction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Guarantee, not runtime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Strategy B — — The Trust Problem  |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6B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Four Stages, Each Fingerprinted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Stage 1 hashes raw signals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Stage 2 hashes features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Stage 3 hashes selection config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Stage 4 adds subject ID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Partial invalidation cascades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554480"/>
            <a:ext cx="6126480" cy="9509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19072"/>
            <a:ext cx="21031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719072"/>
            <a:ext cx="4023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Fingerprint includes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505456"/>
            <a:ext cx="6126480" cy="950976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706624"/>
            <a:ext cx="21031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06624"/>
            <a:ext cx="4023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Raw EEG + filter 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456432"/>
            <a:ext cx="6126480" cy="9509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657600"/>
            <a:ext cx="21031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657600"/>
            <a:ext cx="4023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Preprocessed + extraction config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4407408"/>
            <a:ext cx="6126480" cy="950976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608576"/>
            <a:ext cx="21031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3.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608576"/>
            <a:ext cx="4023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Features + threshold + top-K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5358384"/>
            <a:ext cx="6126480" cy="9509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5559552"/>
            <a:ext cx="21031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4.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559552"/>
            <a:ext cx="4023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Above + params + subject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64008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6B6B"/>
                </a:solidFill>
              </a:rPr>
              <a:t>Subject ID in Stage 4  →  fold identity guards the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Strategy B — — The Trust Problem  |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6B"/>
                </a:solidFill>
              </a:rPr>
              <a:t>1:45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Fast AND 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XGBoost: 54× median speedup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Random Forest: 12× speedup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100% cache hit rate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Zero leakage cases confirmed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Both claims hold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54480"/>
            <a:ext cx="60350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_speedu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943600" cy="37685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63093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9AA"/>
                </a:solidFill>
              </a:rPr>
              <a:t>Speed gains, with correctness preserved across all 128 folds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Strategy B — — The Trust Problem  |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6B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Safe Caching, Under Cross-Validation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Caching: well understood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Safe caching under LOSO: not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Fold ID in the fingerprint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Zero correctness compromise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Generalizes to k-fold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2651760"/>
            <a:ext cx="12051792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6D6A0"/>
                </a:solidFill>
              </a:rPr>
              <a:t>Strategy C — Numbers-First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</a:rPr>
              <a:t>Open with the number → backfill → close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Motivation 1:15  •  SOTA 0:45  •  Model 1:00  •  Implementation 1:15  •  Results 1:30  •  Conclusion 1:15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7 min  •  CS committee  •  English  •  5×5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Strategy C — — Numbers-First  |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D6A0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Nine Hours. Then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128 subjects, 2,304 runs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Each run: 9–12 hours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80% identical recomputation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Question: cache without errors?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Answer: one design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Strategy C — — Numbers-First  |  State of the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D6A0"/>
                </a:solidFill>
              </a:rPr>
              <a:t>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Close, But Not Quite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Hashing exists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Caching frameworks exist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Model serialization exists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No unified LOSO scheme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Stale fold reads unprotected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Strategy C — — Numbers-First  | 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D6A0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Fingerprint Every 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Hash of all inputs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Same key, cache hit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Different key, recompute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Stages chained downstream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Partial invalidation cascades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Strategy C — — Numbers-First  |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D6A0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Four-Stage Hierarchical Cache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Pipeline split into four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Each stage hashed separately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Subject ID at training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Each fold: distinct entry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Threshold change: stages three, four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54480"/>
            <a:ext cx="60350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943600" cy="29176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63093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9AA"/>
                </a:solidFill>
              </a:rPr>
              <a:t>Hierarchical cache with fold-aware fingerprints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Strategy C — — Numbers-First  |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D6A0"/>
                </a:solidFill>
              </a:rPr>
              <a:t>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Numbers Hold Up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XGBoost: 54× median speedup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Random Forest: 12× speedup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100% cache hit rate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Zero leakage events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FFFFFF"/>
                </a:solidFill>
              </a:rPr>
              <a:t>•  Promise from slide one delivered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54480"/>
            <a:ext cx="60350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_speedu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943600" cy="37685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63093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9AA"/>
                </a:solidFill>
              </a:rPr>
              <a:t>Median speedup across 128 LOSO folds, two model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Strategy C — — Numbers-First  |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D6A0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One Design Choice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Fingerprint every computation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Include fold ID inside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Four cascading stages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12–54× measured speedup</a:t>
            </a:r>
          </a:p>
          <a:p>
            <a:pPr algn="l">
              <a:spcBef>
                <a:spcPts val="1000"/>
              </a:spcBef>
            </a:pPr>
            <a:r>
              <a:rPr sz="2600">
                <a:solidFill>
                  <a:srgbClr val="FFFFFF"/>
                </a:solidFill>
              </a:rPr>
              <a:t>•  Generalizes to k-fold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